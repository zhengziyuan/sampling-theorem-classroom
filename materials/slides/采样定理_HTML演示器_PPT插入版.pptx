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3d957845c44dc1" /><Relationship Type="http://schemas.openxmlformats.org/officeDocument/2006/relationships/extended-properties" Target="/docProps/app.xml" Id="R317604e022cc433e" /><Relationship Type="http://schemas.openxmlformats.org/officeDocument/2006/relationships/officeDocument" Target="/ppt/presentation.xml" Id="R8be03476b6544d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00d6384bc84680"/>
  </p:sldMasterIdLst>
  <p:notesMasterIdLst>
    <p:notesMasterId xmlns:r="http://schemas.openxmlformats.org/officeDocument/2006/relationships" r:id="R4b30bf484a7f495c"/>
  </p:notesMasterIdLst>
  <p:sldIdLst>
    <p:sldId xmlns:r="http://schemas.openxmlformats.org/officeDocument/2006/relationships" id="256" r:id="R3ac180849ff543e3"/>
    <p:sldId xmlns:r="http://schemas.openxmlformats.org/officeDocument/2006/relationships" id="257" r:id="R5638d43a83804030"/>
    <p:sldId xmlns:r="http://schemas.openxmlformats.org/officeDocument/2006/relationships" id="258" r:id="Rb340723c32d749df"/>
    <p:sldId xmlns:r="http://schemas.openxmlformats.org/officeDocument/2006/relationships" id="259" r:id="Rc0de703bf2d745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0d6384bc84680" /><Relationship Type="http://schemas.openxmlformats.org/officeDocument/2006/relationships/theme" Target="/ppt/theme/theme1.xml" Id="R93c93cb7bc4e435e" /><Relationship Type="http://schemas.openxmlformats.org/officeDocument/2006/relationships/notesMaster" Target="/ppt/notesMasters/notesMaster1.xml" Id="R4b30bf484a7f495c" /><Relationship Type="http://schemas.openxmlformats.org/officeDocument/2006/relationships/presProps" Target="/ppt/presProps.xml" Id="R975ff315d9de46ab" /><Relationship Type="http://schemas.openxmlformats.org/officeDocument/2006/relationships/viewProps" Target="/ppt/viewProps.xml" Id="Rff0ef68e8bfc4137" /><Relationship Type="http://schemas.openxmlformats.org/officeDocument/2006/relationships/tableStyles" Target="/ppt/tableStyles.xml" Id="R7706c90699eb4fe5" /><Relationship Type="http://schemas.openxmlformats.org/officeDocument/2006/relationships/slide" Target="/ppt/slides/slide1.xml" Id="R3ac180849ff543e3" /><Relationship Type="http://schemas.openxmlformats.org/officeDocument/2006/relationships/slide" Target="/ppt/slides/slide2.xml" Id="R5638d43a83804030" /><Relationship Type="http://schemas.openxmlformats.org/officeDocument/2006/relationships/slide" Target="/ppt/slides/slide3.xml" Id="Rb340723c32d749df" /><Relationship Type="http://schemas.openxmlformats.org/officeDocument/2006/relationships/slide" Target="/ppt/slides/slide4.xml" Id="Rc0de703bf2d745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ce38d165b914d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0eff3186934666" /><Relationship Type="http://schemas.openxmlformats.org/officeDocument/2006/relationships/notesMaster" Target="/ppt/notesMasters/notesMaster1.xml" Id="Rf45c6a6d358b4a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578e793b9c4dfc" /><Relationship Type="http://schemas.openxmlformats.org/officeDocument/2006/relationships/notesMaster" Target="/ppt/notesMasters/notesMaster1.xml" Id="Rc8f6de06122f41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87a7660bd44775" /><Relationship Type="http://schemas.openxmlformats.org/officeDocument/2006/relationships/notesMaster" Target="/ppt/notesMasters/notesMaster1.xml" Id="R7d72ce4cf63543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fc0d8ce50a4a6f" /><Relationship Type="http://schemas.openxmlformats.org/officeDocument/2006/relationships/notesMaster" Target="/ppt/notesMasters/notesMaster1.xml" Id="R9183c9f9b21549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c91fa70d7411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48be5ff5a744cb4" /><Relationship Type="http://schemas.openxmlformats.org/officeDocument/2006/relationships/slideLayout" Target="/ppt/slideLayouts/slideLayout2.xml" Id="R804db01161934e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4db01161934e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a741c865a34094" /><Relationship Type="http://schemas.openxmlformats.org/officeDocument/2006/relationships/image" Target="/ppt/media/image.png" Id="R8f71d42571204caf" /><Relationship Type="http://schemas.openxmlformats.org/officeDocument/2006/relationships/image" Target="/ppt/media/image2.png" Id="R37fd3503100241cd" /><Relationship Type="http://schemas.openxmlformats.org/officeDocument/2006/relationships/image" Target="/ppt/media/image3.png" Id="R52d90b6b2f16414b" /><Relationship Type="http://schemas.openxmlformats.org/officeDocument/2006/relationships/notesSlide" Target="/ppt/notesSlides/notesSlide1.xml" Id="Rb0d7704e1a5c40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92717179954bed" /><Relationship Type="http://schemas.openxmlformats.org/officeDocument/2006/relationships/image" Target="/ppt/media/image4.png" Id="Rc53a2a8a65c44ecf" /><Relationship Type="http://schemas.openxmlformats.org/officeDocument/2006/relationships/notesSlide" Target="/ppt/notesSlides/notesSlide2.xml" Id="R522690c66e874f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bb4ddc3a764d3d" /><Relationship Type="http://schemas.openxmlformats.org/officeDocument/2006/relationships/image" Target="/ppt/media/image5.png" Id="Rdb3ca30ce7c14cc1" /><Relationship Type="http://schemas.openxmlformats.org/officeDocument/2006/relationships/notesSlide" Target="/ppt/notesSlides/notesSlide3.xml" Id="Rc9dd9b775a664a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190041d2994621" /><Relationship Type="http://schemas.openxmlformats.org/officeDocument/2006/relationships/image" Target="/ppt/media/image6.png" Id="R3e145bf94ef64f43" /><Relationship Type="http://schemas.openxmlformats.org/officeDocument/2006/relationships/notesSlide" Target="/ppt/notesSlides/notesSlide4.xml" Id="R841d17bc5a6147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8AFF8D-59AA-4EBD-BDAF-AA44617A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84F7E-A757-4BC4-ABF2-C18CEC90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采样定理演示器：PPT 插入版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9C6DF-3AE9-4CA6-9F3E-D6D4585A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04850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rPr>
              <a:t>三张课堂画面：正常采样、混叠折回、重建公式，可直接复制到现有课件中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CB10A-597F-49D4-A21D-8CDB5894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3638550" cy="40957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41D28"/>
          </a:solidFill>
          <a:ln xmlns:a="http://schemas.openxmlformats.org/drawingml/2006/main" w="9525">
            <a:solidFill>
              <a:srgbClr val="304052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1d42571204caf"/>
          <a:srcRect xmlns:a="http://schemas.openxmlformats.org/drawingml/2006/main" l="219" t="0" r="2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371600"/>
            <a:ext cx="3371850" cy="190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F29F6-892D-4477-B03E-AFE0BD47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633"/>
          </a:solidFill>
          <a:ln xmlns:a="http://schemas.openxmlformats.org/drawingml/2006/main" w="9525">
            <a:solidFill>
              <a:srgbClr val="3FE1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F3473-8CCD-4E54-8D35-36C716F7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FE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E1D0"/>
                </a:solidFill>
                <a:latin typeface="Microsoft YaHei"/>
                <a:ea typeface="Microsoft YaHei"/>
                <a:cs typeface="Microsoft YaHei"/>
              </a:rPr>
              <a:t>1 / 满足 Nyquist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93FFE-ABF2-4332-A3F2-6E9C4202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频谱副本分开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220A5-9E34-4507-B3B8-379E6B8D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329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rPr>
              <a:t>fs = 400 Hz，fN = 200 Hz，fmax = 120 Hz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8C2B9-53A8-40B4-9928-D0FA27F0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00150"/>
            <a:ext cx="3638550" cy="40957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41D28"/>
          </a:solidFill>
          <a:ln xmlns:a="http://schemas.openxmlformats.org/drawingml/2006/main" w="9525">
            <a:solidFill>
              <a:srgbClr val="30405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d3503100241cd"/>
          <a:srcRect xmlns:a="http://schemas.openxmlformats.org/drawingml/2006/main" l="219" t="0" r="2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1371600"/>
            <a:ext cx="3371850" cy="1905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00BCB-A370-4846-9186-47CAA42B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6710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633"/>
          </a:solidFill>
          <a:ln xmlns:a="http://schemas.openxmlformats.org/drawingml/2006/main" w="9525">
            <a:solidFill>
              <a:srgbClr val="FF4F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6C36C-740A-48A3-BD05-336299BE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242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4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4F5F"/>
                </a:solidFill>
                <a:latin typeface="Microsoft YaHei"/>
                <a:ea typeface="Microsoft YaHei"/>
                <a:cs typeface="Microsoft YaHei"/>
              </a:rPr>
              <a:t>2 / 发生混叠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D3F8A-D6F7-4BE1-9E47-76AF3A11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715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120 Hz 折回成 30 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E700F-9C8B-4C78-A9F9-D0CA1569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05300"/>
            <a:ext cx="329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rPr>
              <a:t>fs = 150 Hz，fN = 75 Hz，重建看到的是假频率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E44D4-633F-4F2D-BB33-6AD5556D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00150"/>
            <a:ext cx="3638550" cy="40957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41D28"/>
          </a:solidFill>
          <a:ln xmlns:a="http://schemas.openxmlformats.org/drawingml/2006/main" w="9525">
            <a:solidFill>
              <a:srgbClr val="30405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90b6b2f16414b"/>
          <a:srcRect xmlns:a="http://schemas.openxmlformats.org/drawingml/2006/main" l="219" t="0" r="2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371600"/>
            <a:ext cx="3371850" cy="1905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BB99E-36FE-44A9-BACE-715FF890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633"/>
          </a:solidFill>
          <a:ln xmlns:a="http://schemas.openxmlformats.org/drawingml/2006/main" w="9525">
            <a:solidFill>
              <a:srgbClr val="3FE1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59838-B2AB-4665-9DD4-AC67CFAB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FE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E1D0"/>
                </a:solidFill>
                <a:latin typeface="Microsoft YaHei"/>
                <a:ea typeface="Microsoft YaHei"/>
                <a:cs typeface="Microsoft YaHei"/>
              </a:rPr>
              <a:t>3 / 理想重建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768E7-9131-40A9-9701-AB95AA30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6715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低通滤波等价 Sinc 插值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7105C-8246-4699-8D02-1115EFD2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329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rPr>
              <a:t>x̂(t) = Σ x[n] sinc(fs t - n)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E89684-9B8B-4B60-AB26-1A36952A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1353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E3C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27B083-C434-439E-AD3C-42A4B861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插入建议：把这份小课件中的任一页复制到原 PPT；若想现场互动，保留 HTML 文件并在讲课时切到浏览器演示。</a:t>
            </a:r>
          </a:p>
        </p:txBody>
      </p:sp>
    </p:spTree>
    <p:extLst>
      <p:ext uri="{BB962C8B-B14F-4D97-AF65-F5344CB8AC3E}">
        <p14:creationId xmlns:p14="http://schemas.microsoft.com/office/powerpoint/2010/main" val="10960886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a2a8a65c44e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4ED3F-E765-447C-85E0-26A601E3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65721-C7C8-49F8-B3D5-30E70090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531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D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D032D-5AD0-4C21-8DB6-3B6A2003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661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满足 Nyquist 条件时，频谱副本互不重叠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8A88-0FA0-4BA5-9FA6-D53DF1EF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695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rPr>
              <a:t>当前 fs = 400 Hz，fN = 200 Hz，最高频率 fmax = 120 Hz。理想低通只截取中心频带，就能还原原始频谱。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EC591-63A1-40DB-A872-964B6139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4835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7BD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088A1-9FE2-4F32-AA59-AF0E6003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96265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fs ≥ 2 fmax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9CBBD-BA18-424A-84DF-21325BED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48350"/>
            <a:ext cx="1314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7BD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FE86A-86EA-46AF-ABC1-21B1543B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972175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400 ≥ 240</a:t>
            </a:r>
          </a:p>
        </p:txBody>
      </p:sp>
    </p:spTree>
    <p:extLst>
      <p:ext uri="{BB962C8B-B14F-4D97-AF65-F5344CB8AC3E}">
        <p14:creationId xmlns:p14="http://schemas.microsoft.com/office/powerpoint/2010/main" val="7206229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ca30ce7c14c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6DA09-DCCB-48F3-B2D7-C2F53EE7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1453F-BC6F-4892-AC48-79B09162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531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3AD98-3E8A-4241-968F-C2FBC91B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661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采样不足时，超出通带的频率会折回成假频率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0DB3C-2074-41D2-9C87-69F33F8D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695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rPr>
              <a:t>当前 fs = 150 Hz，fN = 75 Hz；120 Hz 已经超出中心通带。最近的频谱副本把它折回到 30 Hz。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9DDD8-29E5-415F-8508-01E5646A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73405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FF4F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3275F-0D92-486C-B0A1-66FE8051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824538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falias = |f - kfs|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8ED6D-B53C-400D-8A8F-D3CCDE04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248400"/>
            <a:ext cx="4171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FF4F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89356-06EF-43C2-BDA7-42D0F062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338888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|120 - 1×150| = 30 Hz</a:t>
            </a:r>
          </a:p>
        </p:txBody>
      </p:sp>
    </p:spTree>
    <p:extLst>
      <p:ext uri="{BB962C8B-B14F-4D97-AF65-F5344CB8AC3E}">
        <p14:creationId xmlns:p14="http://schemas.microsoft.com/office/powerpoint/2010/main" val="12946627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7FAAE9-6B2F-4ACF-9FB1-06306F81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14FD3-0B06-4A81-AF1D-8CF8456B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理想重建的机理：低通滤波 ⇄ Sinc 插值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69045-1588-499A-AE2C-24C2ADB0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04850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rPr>
              <a:t>采样在频域制造周期副本；重建就是截回中心频带，并在时域表现为 sinc 基函数叠加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45bf94ef64f43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123950"/>
            <a:ext cx="6972300" cy="3924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C5593-5900-46E1-8988-6C1757C6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123950"/>
            <a:ext cx="4019550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141D28"/>
          </a:solidFill>
          <a:ln xmlns:a="http://schemas.openxmlformats.org/drawingml/2006/main" w="9525">
            <a:solidFill>
              <a:srgbClr val="304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FDED9-6B20-42E1-99F9-E4532087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906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从公式读机理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ED79A-90C3-4B89-A9EB-F688B033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3333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1. 乘冲激梳：只留下 nTs 时刻的样本</a:t>
            </a:r>
          </a:p>
          <a:p xmlns:a="http://schemas.openxmlformats.org/drawingml/2006/main">
            <a:pPr algn="l">
              <a:def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2. 频域复制：X(f) 每隔 fs 重复一次</a:t>
            </a:r>
          </a:p>
          <a:p xmlns:a="http://schemas.openxmlformats.org/drawingml/2006/main">
            <a:pPr algn="l">
              <a:def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3. 理想低通：只取 |f| ≤ fN 的中心副本</a:t>
            </a:r>
          </a:p>
          <a:p xmlns:a="http://schemas.openxmlformats.org/drawingml/2006/main">
            <a:pPr algn="l">
              <a:def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4. Sinc 插值：每个样本贡献一条 sinc 曲线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E2A4D-5DFA-44EA-B826-788F8F12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3219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3FE1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6622E-1858-4A24-966B-3572FA32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0520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xs(t) = x(t) · Σδ(t - nTs)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CEF04-17ED-4EDB-B964-07A8F681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3219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FFAE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EDAE2-C349-43FD-AC3E-50C39432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7670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Xs(f) = fs · ΣX(f - kfs)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D1A03-6EA9-4C15-913B-E2D5E4E9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33900"/>
            <a:ext cx="3219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E64B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B1BC5-6561-4B33-9E11-3B274CA2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4820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x̂(t) = Σx[n] sinc(fs t - 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E21FB-F5B0-4D22-B6BA-4CDD453B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05450"/>
            <a:ext cx="11353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E3C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3A9DC-D5E5-4689-9F3B-1260499B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76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讲解口径：采样定理的核心不是“点够不够密”，而是频域副本之间是否留有空隙；一旦副本重叠，低通滤波器无法分辨真频率和复制频率。</a:t>
            </a:r>
          </a:p>
        </p:txBody>
      </p:sp>
    </p:spTree>
    <p:extLst>
      <p:ext uri="{BB962C8B-B14F-4D97-AF65-F5344CB8AC3E}">
        <p14:creationId xmlns:p14="http://schemas.microsoft.com/office/powerpoint/2010/main" val="1499979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2026-05-31T06:53:09.5640000Z</dcterms:created>
  <dcterms:modified xsi:type="dcterms:W3CDTF">2026-05-31T06:53:09.5650000Z</dcterms:modified>
</coreProperties>
</file>