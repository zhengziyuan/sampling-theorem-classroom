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4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93A29-1FB4-46E9-03FF-71131AFC5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13023D-540C-40D3-ADB9-C954E5102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7A8140-C27A-8736-28C9-9F3F1838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2469-DA01-4055-9B2E-831C09E9EC04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6E19CD-0396-FDB4-33FF-D08EA0787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69AE3B-0591-3261-DF4B-265BEE398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DE62-303D-4D94-948F-94658B0D0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68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D53DC-003C-0FC4-9B5D-02055F1B8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CDA2A-C573-9585-4549-BA01A6095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1B3A90-41F2-EA2E-8588-51311360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2469-DA01-4055-9B2E-831C09E9EC04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2D8C34-678C-DA49-A8F9-3B89BBEC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512B52-A0F1-2528-2E83-1C4EB06CA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DE62-303D-4D94-948F-94658B0D0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16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989532-B77E-B54F-B8FD-F01061BDE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9C69FE-A512-D905-35A2-7F200D15C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DFC378-250A-800A-4777-ABFBFBAB1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2469-DA01-4055-9B2E-831C09E9EC04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00E0B5-69B9-AF4B-5DC5-2D0C3455E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BE150E-109D-0D6C-6FBF-A415AC9C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DE62-303D-4D94-948F-94658B0D0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67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E6D1F-8818-2B53-71D8-9E59972F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A27F44-E034-B806-2961-AA8F7E328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FB6F13-9C39-BF70-DD92-C02C84A55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7C3D2B-81F2-08D0-B5E8-33BF2B7B9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2469-DA01-4055-9B2E-831C09E9EC04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076C4B-81BE-1B54-E93E-FA161E55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284117-9CD3-33AC-2BC8-A00B2EA3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DE62-303D-4D94-948F-94658B0D0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14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0293B-B4C9-073A-DF00-5D673091C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67679-4800-A73C-A760-A28669086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606E29-1091-D9B5-00B7-DF5F9E9EA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DCC0B7-C11D-7B33-D8F8-4C5DAFD14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3DAC10-5653-111A-32F1-283C2E8FDD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6FA8E4-2257-CCCB-C688-42BDAF514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2469-DA01-4055-9B2E-831C09E9EC04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4871570-4FEE-3F12-E305-AA029A8EF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9995CA-16E6-1457-9A4E-8F02E065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DE62-303D-4D94-948F-94658B0D0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449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9082F-AF5E-DA25-DCB4-A205A1FB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278617-0DA7-B4DF-496D-9DB4421BD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2469-DA01-4055-9B2E-831C09E9EC04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3BC1E6-1B0C-0496-A948-230B05320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A9A536-59A0-25B6-4997-F45D59BAD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DE62-303D-4D94-948F-94658B0D0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694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7812CE2-10A8-C2BA-F432-214D613A7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2469-DA01-4055-9B2E-831C09E9EC04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A1AD7A7-7719-D58B-9231-5FE2EABD1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948E3E-381C-4E63-11BF-D5E4CB4A2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DE62-303D-4D94-948F-94658B0D0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8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2AA9E1-5019-3D18-7F07-6D1D2C95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7FC7FB-37D9-98AF-5143-B52B7CC26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E493A8-DFAC-1A76-5F5B-9181077E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7B77DD-EFCD-5336-5A31-99D0AC3F8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2469-DA01-4055-9B2E-831C09E9EC04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99849F-7DDD-1358-D9D4-6010AF786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A7D2E2-D3BD-E91C-16B8-AB993F01A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DE62-303D-4D94-948F-94658B0D0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170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E8BB6-CEB0-FAF5-C9DE-3BC10A134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EF0E60-F101-AAAF-7D50-4D9F8C6B9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F27DFD-3D2A-F292-66AA-5E55E472D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BC4D9F-D080-218E-0883-84DE3104A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2469-DA01-4055-9B2E-831C09E9EC04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AD87F3-D3FA-8D53-D05E-0B678C69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9E52E3-B849-5EE7-4CE9-2FD726F78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DE62-303D-4D94-948F-94658B0D0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842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C2A50-4A7E-6B8B-3FA5-1ABFC25FF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C553A7-2AD7-8157-C2FE-0221F300A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976D-385E-DA98-591D-522FCE439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2469-DA01-4055-9B2E-831C09E9EC04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F192B-E379-C675-E42F-F3A5992FE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AF9D5F-FCA8-6E3D-5C87-58FAEF63C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DE62-303D-4D94-948F-94658B0D0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495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D04BB8A-A483-0950-C0E8-A64513544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AB60E2-21B5-964D-D5EA-50521D69B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D681E0-B82B-E1EB-F621-6D357509D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2469-DA01-4055-9B2E-831C09E9EC04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43FF4F-1F8C-5E51-22B0-329F27E9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996EE-EC8C-16F0-1EE2-C348FACF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CDE62-303D-4D94-948F-94658B0D0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55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51B35E-542C-8B60-E8B7-3AF205221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F32567-2650-4FF0-80F4-D683451EE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AF0F76-003F-9C38-90D1-C1323069B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BD2469-DA01-4055-9B2E-831C09E9EC04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CE8519-52D7-A942-06FD-DADC838FD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D864CB-2FF2-E63A-5139-0EA6ED4E2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CDE62-303D-4D94-948F-94658B0D04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125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image" Target="../media/image1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openxmlformats.org/officeDocument/2006/relationships/slideLayout" Target="../slideLayouts/slideLayout7.xml"/><Relationship Id="rId5" Type="http://schemas.microsoft.com/office/2007/relationships/media" Target="../media/media3.wav"/><Relationship Id="rId10" Type="http://schemas.openxmlformats.org/officeDocument/2006/relationships/audio" Target="../media/media5.wav"/><Relationship Id="rId4" Type="http://schemas.openxmlformats.org/officeDocument/2006/relationships/audio" Target="../media/media2.wav"/><Relationship Id="rId9" Type="http://schemas.microsoft.com/office/2007/relationships/media" Target="../media/media5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6.wav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6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E7D39F-05EC-8FE9-0356-38EE090360C7}"/>
              </a:ext>
            </a:extLst>
          </p:cNvPr>
          <p:cNvSpPr txBox="1"/>
          <p:nvPr/>
        </p:nvSpPr>
        <p:spPr>
          <a:xfrm>
            <a:off x="787400" y="736600"/>
            <a:ext cx="787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4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音频采样率 </a:t>
            </a:r>
            <a:r>
              <a:rPr lang="en-US" altLang="zh-CN" sz="34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Demo</a:t>
            </a:r>
            <a:endParaRPr lang="zh-CN" altLang="en-US" sz="3400" b="1">
              <a:solidFill>
                <a:srgbClr val="20242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847789-1FE3-78AD-E47D-F69755320F92}"/>
              </a:ext>
            </a:extLst>
          </p:cNvPr>
          <p:cNvSpPr txBox="1"/>
          <p:nvPr/>
        </p:nvSpPr>
        <p:spPr>
          <a:xfrm>
            <a:off x="800100" y="1524000"/>
            <a:ext cx="9779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为什么记录人耳可听范围，常用 </a:t>
            </a:r>
            <a:r>
              <a:rPr lang="en-US" altLang="zh-CN" sz="20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44.1 kHz / 48 kHz</a:t>
            </a:r>
            <a:r>
              <a:rPr lang="zh-CN" altLang="en-US" sz="20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375A73-2588-000D-8F78-BFD61EF49E7E}"/>
              </a:ext>
            </a:extLst>
          </p:cNvPr>
          <p:cNvSpPr/>
          <p:nvPr/>
        </p:nvSpPr>
        <p:spPr>
          <a:xfrm>
            <a:off x="787400" y="2413000"/>
            <a:ext cx="106045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D9E518-0F6C-4BA3-A3FD-4332B984F78C}"/>
              </a:ext>
            </a:extLst>
          </p:cNvPr>
          <p:cNvSpPr txBox="1"/>
          <p:nvPr/>
        </p:nvSpPr>
        <p:spPr>
          <a:xfrm>
            <a:off x="1219200" y="2794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人耳上限常取约 </a:t>
            </a:r>
            <a:r>
              <a:rPr lang="en-US" altLang="zh-CN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 kHz</a:t>
            </a:r>
            <a:endParaRPr lang="zh-CN" altLang="en-US" b="1">
              <a:solidFill>
                <a:srgbClr val="20242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0B6D78-0B95-6FF0-322B-CB796D2A11D6}"/>
              </a:ext>
            </a:extLst>
          </p:cNvPr>
          <p:cNvSpPr txBox="1"/>
          <p:nvPr/>
        </p:nvSpPr>
        <p:spPr>
          <a:xfrm>
            <a:off x="1219200" y="3276600"/>
            <a:ext cx="850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Nyquist </a:t>
            </a:r>
            <a:r>
              <a:rPr lang="zh-CN" altLang="en-US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要求：采样率 </a:t>
            </a:r>
            <a:r>
              <a:rPr lang="en-US" altLang="zh-CN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fs &gt; 2 × fmax</a:t>
            </a:r>
            <a:r>
              <a:rPr lang="zh-CN" altLang="en-US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，所以 </a:t>
            </a:r>
            <a:r>
              <a:rPr lang="en-US" altLang="zh-CN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fs </a:t>
            </a:r>
            <a:r>
              <a:rPr lang="zh-CN" altLang="en-US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必须高于 </a:t>
            </a:r>
            <a:r>
              <a:rPr lang="en-US" altLang="zh-CN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40 kHz</a:t>
            </a:r>
            <a:r>
              <a:rPr lang="zh-CN" altLang="en-US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813AEA-D0F6-39B3-24EA-4BBD6BAAFA48}"/>
              </a:ext>
            </a:extLst>
          </p:cNvPr>
          <p:cNvSpPr txBox="1"/>
          <p:nvPr/>
        </p:nvSpPr>
        <p:spPr>
          <a:xfrm>
            <a:off x="1219200" y="3721100"/>
            <a:ext cx="914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工程上还要给抗混叠滤波器留过渡带，因此 </a:t>
            </a:r>
            <a:r>
              <a:rPr lang="en-US" altLang="zh-CN" sz="14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CD </a:t>
            </a:r>
            <a:r>
              <a:rPr lang="zh-CN" altLang="en-US" sz="14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采用 </a:t>
            </a:r>
            <a:r>
              <a:rPr lang="en-US" altLang="zh-CN" sz="14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44.1 kHz</a:t>
            </a:r>
            <a:r>
              <a:rPr lang="zh-CN" altLang="en-US" sz="14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，专业音频常用 </a:t>
            </a:r>
            <a:r>
              <a:rPr lang="en-US" altLang="zh-CN" sz="14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48 kHz</a:t>
            </a:r>
            <a:r>
              <a:rPr lang="zh-CN" altLang="en-US" sz="14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3F3D3C-CCA7-90BE-B46E-A46BDF5E4844}"/>
              </a:ext>
            </a:extLst>
          </p:cNvPr>
          <p:cNvSpPr/>
          <p:nvPr/>
        </p:nvSpPr>
        <p:spPr>
          <a:xfrm>
            <a:off x="1181100" y="4699000"/>
            <a:ext cx="9829800" cy="228600"/>
          </a:xfrm>
          <a:prstGeom prst="rect">
            <a:avLst/>
          </a:prstGeom>
          <a:solidFill>
            <a:srgbClr val="DFE7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6FD564-3963-6A16-2406-81C4A42784FA}"/>
              </a:ext>
            </a:extLst>
          </p:cNvPr>
          <p:cNvSpPr/>
          <p:nvPr/>
        </p:nvSpPr>
        <p:spPr>
          <a:xfrm>
            <a:off x="1181100" y="4648200"/>
            <a:ext cx="8763000" cy="330200"/>
          </a:xfrm>
          <a:prstGeom prst="rect">
            <a:avLst/>
          </a:prstGeom>
          <a:solidFill>
            <a:srgbClr val="67B6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E6BB74-CF20-28EC-E783-ACFEA5744081}"/>
              </a:ext>
            </a:extLst>
          </p:cNvPr>
          <p:cNvSpPr txBox="1"/>
          <p:nvPr/>
        </p:nvSpPr>
        <p:spPr>
          <a:xfrm>
            <a:off x="1143000" y="5054600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 Hz</a:t>
            </a:r>
            <a:endParaRPr lang="zh-CN" altLang="en-US" sz="1000">
              <a:solidFill>
                <a:srgbClr val="59616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F700F1-011F-3362-2652-908AA3EBB977}"/>
              </a:ext>
            </a:extLst>
          </p:cNvPr>
          <p:cNvSpPr txBox="1"/>
          <p:nvPr/>
        </p:nvSpPr>
        <p:spPr>
          <a:xfrm>
            <a:off x="9601200" y="5054600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 kHz</a:t>
            </a:r>
            <a:endParaRPr lang="zh-CN" altLang="en-US" sz="1000">
              <a:solidFill>
                <a:srgbClr val="59616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B73E88-F0BF-A3F0-32AA-FF0C12BC6A52}"/>
              </a:ext>
            </a:extLst>
          </p:cNvPr>
          <p:cNvSpPr txBox="1"/>
          <p:nvPr/>
        </p:nvSpPr>
        <p:spPr>
          <a:xfrm>
            <a:off x="8191500" y="42926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B6E6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44.1 kHz </a:t>
            </a:r>
            <a:r>
              <a:rPr lang="zh-CN" altLang="en-US" sz="1100" b="1">
                <a:solidFill>
                  <a:srgbClr val="0B6E6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采样 → </a:t>
            </a:r>
            <a:r>
              <a:rPr lang="en-US" altLang="zh-CN" sz="1100" b="1">
                <a:solidFill>
                  <a:srgbClr val="0B6E6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Nyquist 22.05 kHz</a:t>
            </a:r>
            <a:endParaRPr lang="zh-CN" altLang="en-US" sz="1100" b="1">
              <a:solidFill>
                <a:srgbClr val="0B6E6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1C5818-DE91-365D-803B-670924A543B8}"/>
              </a:ext>
            </a:extLst>
          </p:cNvPr>
          <p:cNvSpPr txBox="1"/>
          <p:nvPr/>
        </p:nvSpPr>
        <p:spPr>
          <a:xfrm>
            <a:off x="558800" y="6413500"/>
            <a:ext cx="1092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本文件不含商业录音；若用于</a:t>
            </a:r>
            <a:r>
              <a:rPr lang="en-US" altLang="zh-CN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《Melody》</a:t>
            </a:r>
            <a:r>
              <a:rPr lang="zh-CN" altLang="en-US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，请替换为你拥有使用权的 </a:t>
            </a:r>
            <a:r>
              <a:rPr lang="en-US" altLang="zh-CN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WAV </a:t>
            </a:r>
            <a:r>
              <a:rPr lang="zh-CN" altLang="en-US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片段。</a:t>
            </a:r>
          </a:p>
        </p:txBody>
      </p:sp>
    </p:spTree>
    <p:extLst>
      <p:ext uri="{BB962C8B-B14F-4D97-AF65-F5344CB8AC3E}">
        <p14:creationId xmlns:p14="http://schemas.microsoft.com/office/powerpoint/2010/main" val="86416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CD27C87-B2A4-0FCB-C18F-7811D428113A}"/>
              </a:ext>
            </a:extLst>
          </p:cNvPr>
          <p:cNvSpPr txBox="1"/>
          <p:nvPr/>
        </p:nvSpPr>
        <p:spPr>
          <a:xfrm>
            <a:off x="558800" y="482600"/>
            <a:ext cx="711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9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同一段声音，换采样率播放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FE5F2A-C1CE-EFF5-6960-E19811D6478B}"/>
              </a:ext>
            </a:extLst>
          </p:cNvPr>
          <p:cNvSpPr txBox="1"/>
          <p:nvPr/>
        </p:nvSpPr>
        <p:spPr>
          <a:xfrm>
            <a:off x="584200" y="1092200"/>
            <a:ext cx="965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放映时点击每张卡片里的扬声器图标，按 </a:t>
            </a:r>
            <a:r>
              <a:rPr lang="en-US" altLang="zh-CN" sz="16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44.1 kHz → 4 kHz </a:t>
            </a:r>
            <a:r>
              <a:rPr lang="zh-CN" altLang="en-US" sz="16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的顺序比较。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131F5A3-D1CC-7CC9-7EA9-055EED9FD174}"/>
              </a:ext>
            </a:extLst>
          </p:cNvPr>
          <p:cNvSpPr/>
          <p:nvPr/>
        </p:nvSpPr>
        <p:spPr>
          <a:xfrm>
            <a:off x="584200" y="1803400"/>
            <a:ext cx="3175000" cy="1841500"/>
          </a:xfrm>
          <a:prstGeom prst="roundRect">
            <a:avLst/>
          </a:prstGeom>
          <a:solidFill>
            <a:srgbClr val="F7F8F4"/>
          </a:solidFill>
          <a:ln w="15875"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2DF8DA-C59B-5241-C524-3FD7A831FC61}"/>
              </a:ext>
            </a:extLst>
          </p:cNvPr>
          <p:cNvSpPr txBox="1"/>
          <p:nvPr/>
        </p:nvSpPr>
        <p:spPr>
          <a:xfrm>
            <a:off x="838200" y="2032000"/>
            <a:ext cx="180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B6E6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44.1 kHz</a:t>
            </a:r>
            <a:endParaRPr lang="zh-CN" altLang="en-US" sz="2000" b="1">
              <a:solidFill>
                <a:srgbClr val="0B6E6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460EA0-1DEB-F52C-22BD-B868FF469702}"/>
              </a:ext>
            </a:extLst>
          </p:cNvPr>
          <p:cNvSpPr txBox="1"/>
          <p:nvPr/>
        </p:nvSpPr>
        <p:spPr>
          <a:xfrm>
            <a:off x="838200" y="24638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CD/</a:t>
            </a:r>
            <a:r>
              <a:rPr lang="zh-CN" altLang="en-US" sz="12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常规音乐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A3A4EB-785E-E2F6-BC68-500E09DEEA33}"/>
              </a:ext>
            </a:extLst>
          </p:cNvPr>
          <p:cNvSpPr txBox="1"/>
          <p:nvPr/>
        </p:nvSpPr>
        <p:spPr>
          <a:xfrm>
            <a:off x="838200" y="2844800"/>
            <a:ext cx="203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Nyquist</a:t>
            </a:r>
            <a:r>
              <a:rPr lang="zh-CN" altLang="en-US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22.05 kHz</a:t>
            </a:r>
            <a:endParaRPr lang="zh-CN" altLang="en-US" sz="1200">
              <a:solidFill>
                <a:srgbClr val="20242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537F68-2F75-337A-44DC-DBA1B37C06AD}"/>
              </a:ext>
            </a:extLst>
          </p:cNvPr>
          <p:cNvSpPr txBox="1"/>
          <p:nvPr/>
        </p:nvSpPr>
        <p:spPr>
          <a:xfrm>
            <a:off x="2844800" y="3035300"/>
            <a:ext cx="736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点击播放</a:t>
            </a:r>
          </a:p>
        </p:txBody>
      </p:sp>
      <p:pic>
        <p:nvPicPr>
          <p:cNvPr id="9" name="clip_44100_reference">
            <a:hlinkClick r:id="" action="ppaction://media"/>
            <a:extLst>
              <a:ext uri="{FF2B5EF4-FFF2-40B4-BE49-F238E27FC236}">
                <a16:creationId xmlns:a16="http://schemas.microsoft.com/office/drawing/2014/main" id="{BA92BF0D-435A-CA54-DE16-A7167FAA38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921000" y="2260600"/>
            <a:ext cx="508000" cy="508000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F221A69-66A4-ACF2-92F9-901FBA36D8ED}"/>
              </a:ext>
            </a:extLst>
          </p:cNvPr>
          <p:cNvSpPr/>
          <p:nvPr/>
        </p:nvSpPr>
        <p:spPr>
          <a:xfrm>
            <a:off x="4343400" y="1803400"/>
            <a:ext cx="3175000" cy="1841500"/>
          </a:xfrm>
          <a:prstGeom prst="roundRect">
            <a:avLst/>
          </a:prstGeom>
          <a:solidFill>
            <a:srgbClr val="F7F8F4"/>
          </a:solidFill>
          <a:ln w="15875"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D91D11-83C0-F640-596B-0F8A83E67465}"/>
              </a:ext>
            </a:extLst>
          </p:cNvPr>
          <p:cNvSpPr txBox="1"/>
          <p:nvPr/>
        </p:nvSpPr>
        <p:spPr>
          <a:xfrm>
            <a:off x="4597400" y="2032000"/>
            <a:ext cx="180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BB6B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22.05 kHz</a:t>
            </a:r>
            <a:endParaRPr lang="zh-CN" altLang="en-US" sz="2000" b="1">
              <a:solidFill>
                <a:srgbClr val="BB6B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9B91C2-3F64-29D3-73E4-366258F8A2B0}"/>
              </a:ext>
            </a:extLst>
          </p:cNvPr>
          <p:cNvSpPr txBox="1"/>
          <p:nvPr/>
        </p:nvSpPr>
        <p:spPr>
          <a:xfrm>
            <a:off x="4597400" y="24638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高频明显变少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45E2EC-4729-7D13-5714-3CA8D9935507}"/>
              </a:ext>
            </a:extLst>
          </p:cNvPr>
          <p:cNvSpPr txBox="1"/>
          <p:nvPr/>
        </p:nvSpPr>
        <p:spPr>
          <a:xfrm>
            <a:off x="4597400" y="2844800"/>
            <a:ext cx="203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Nyquist</a:t>
            </a:r>
            <a:r>
              <a:rPr lang="zh-CN" altLang="en-US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11.03 kHz</a:t>
            </a:r>
            <a:endParaRPr lang="zh-CN" altLang="en-US" sz="1200">
              <a:solidFill>
                <a:srgbClr val="20242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B825DC1-AB15-C823-F9F2-09129E1D5CD7}"/>
              </a:ext>
            </a:extLst>
          </p:cNvPr>
          <p:cNvSpPr txBox="1"/>
          <p:nvPr/>
        </p:nvSpPr>
        <p:spPr>
          <a:xfrm>
            <a:off x="6604000" y="3035300"/>
            <a:ext cx="736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点击播放</a:t>
            </a:r>
          </a:p>
        </p:txBody>
      </p:sp>
      <p:pic>
        <p:nvPicPr>
          <p:cNvPr id="15" name="clip_22050">
            <a:hlinkClick r:id="" action="ppaction://media"/>
            <a:extLst>
              <a:ext uri="{FF2B5EF4-FFF2-40B4-BE49-F238E27FC236}">
                <a16:creationId xmlns:a16="http://schemas.microsoft.com/office/drawing/2014/main" id="{44FEFECD-CA40-B9E5-A4E8-CCA4BB66AED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680200" y="2260600"/>
            <a:ext cx="508000" cy="508000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46768E6-E3BD-52F1-A2ED-C3F8426C1984}"/>
              </a:ext>
            </a:extLst>
          </p:cNvPr>
          <p:cNvSpPr/>
          <p:nvPr/>
        </p:nvSpPr>
        <p:spPr>
          <a:xfrm>
            <a:off x="8102600" y="1803400"/>
            <a:ext cx="3175000" cy="1841500"/>
          </a:xfrm>
          <a:prstGeom prst="roundRect">
            <a:avLst/>
          </a:prstGeom>
          <a:solidFill>
            <a:srgbClr val="F7F8F4"/>
          </a:solidFill>
          <a:ln w="15875"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E93246C-1CAF-69B5-2369-482D1C485DAE}"/>
              </a:ext>
            </a:extLst>
          </p:cNvPr>
          <p:cNvSpPr txBox="1"/>
          <p:nvPr/>
        </p:nvSpPr>
        <p:spPr>
          <a:xfrm>
            <a:off x="8356600" y="2032000"/>
            <a:ext cx="180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7B4FB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11.025 kHz</a:t>
            </a:r>
            <a:endParaRPr lang="zh-CN" altLang="en-US" sz="2000" b="1">
              <a:solidFill>
                <a:srgbClr val="7B4FB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E1A204-86BF-DE53-1048-4FECF3DFC647}"/>
              </a:ext>
            </a:extLst>
          </p:cNvPr>
          <p:cNvSpPr txBox="1"/>
          <p:nvPr/>
        </p:nvSpPr>
        <p:spPr>
          <a:xfrm>
            <a:off x="8356600" y="24638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质感变薄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8F1583A-D4D9-966F-4EBF-36F3204AC241}"/>
              </a:ext>
            </a:extLst>
          </p:cNvPr>
          <p:cNvSpPr txBox="1"/>
          <p:nvPr/>
        </p:nvSpPr>
        <p:spPr>
          <a:xfrm>
            <a:off x="8356600" y="2844800"/>
            <a:ext cx="203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Nyquist</a:t>
            </a:r>
            <a:r>
              <a:rPr lang="zh-CN" altLang="en-US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5.51 kHz</a:t>
            </a:r>
            <a:endParaRPr lang="zh-CN" altLang="en-US" sz="1200">
              <a:solidFill>
                <a:srgbClr val="20242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CF51BF3-4DF0-DE59-3759-A409F4E6FE91}"/>
              </a:ext>
            </a:extLst>
          </p:cNvPr>
          <p:cNvSpPr txBox="1"/>
          <p:nvPr/>
        </p:nvSpPr>
        <p:spPr>
          <a:xfrm>
            <a:off x="10363200" y="3035300"/>
            <a:ext cx="736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点击播放</a:t>
            </a:r>
          </a:p>
        </p:txBody>
      </p:sp>
      <p:pic>
        <p:nvPicPr>
          <p:cNvPr id="21" name="clip_11025">
            <a:hlinkClick r:id="" action="ppaction://media"/>
            <a:extLst>
              <a:ext uri="{FF2B5EF4-FFF2-40B4-BE49-F238E27FC236}">
                <a16:creationId xmlns:a16="http://schemas.microsoft.com/office/drawing/2014/main" id="{62F4F5DE-08C4-B80D-0827-AC853D026425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0439400" y="2260600"/>
            <a:ext cx="508000" cy="508000"/>
          </a:xfrm>
          <a:prstGeom prst="rect">
            <a:avLst/>
          </a:prstGeom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4826991-3D16-996B-3475-B56527A73DDD}"/>
              </a:ext>
            </a:extLst>
          </p:cNvPr>
          <p:cNvSpPr/>
          <p:nvPr/>
        </p:nvSpPr>
        <p:spPr>
          <a:xfrm>
            <a:off x="2463800" y="4191000"/>
            <a:ext cx="3175000" cy="1841500"/>
          </a:xfrm>
          <a:prstGeom prst="roundRect">
            <a:avLst/>
          </a:prstGeom>
          <a:solidFill>
            <a:srgbClr val="F7F8F4"/>
          </a:solidFill>
          <a:ln w="15875"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3EA60E-F1B2-1FA8-44C9-491A1E0B1104}"/>
              </a:ext>
            </a:extLst>
          </p:cNvPr>
          <p:cNvSpPr txBox="1"/>
          <p:nvPr/>
        </p:nvSpPr>
        <p:spPr>
          <a:xfrm>
            <a:off x="2717800" y="4419600"/>
            <a:ext cx="180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D1425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 kHz</a:t>
            </a:r>
            <a:endParaRPr lang="zh-CN" altLang="en-US" sz="2000" b="1">
              <a:solidFill>
                <a:srgbClr val="D14256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0F05C1D-3812-077D-27F1-9AF72FB647FC}"/>
              </a:ext>
            </a:extLst>
          </p:cNvPr>
          <p:cNvSpPr txBox="1"/>
          <p:nvPr/>
        </p:nvSpPr>
        <p:spPr>
          <a:xfrm>
            <a:off x="2717800" y="48514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电话感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30AD46F-C54B-7FDC-F829-6CB3C18D8046}"/>
              </a:ext>
            </a:extLst>
          </p:cNvPr>
          <p:cNvSpPr txBox="1"/>
          <p:nvPr/>
        </p:nvSpPr>
        <p:spPr>
          <a:xfrm>
            <a:off x="2717800" y="5232400"/>
            <a:ext cx="203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Nyquist</a:t>
            </a:r>
            <a:r>
              <a:rPr lang="zh-CN" altLang="en-US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4.0 kHz</a:t>
            </a:r>
            <a:endParaRPr lang="zh-CN" altLang="en-US" sz="1200">
              <a:solidFill>
                <a:srgbClr val="20242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371CEA8-9203-5A0C-0176-D2E8E9623016}"/>
              </a:ext>
            </a:extLst>
          </p:cNvPr>
          <p:cNvSpPr txBox="1"/>
          <p:nvPr/>
        </p:nvSpPr>
        <p:spPr>
          <a:xfrm>
            <a:off x="4724400" y="5422900"/>
            <a:ext cx="736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点击播放</a:t>
            </a:r>
          </a:p>
        </p:txBody>
      </p:sp>
      <p:pic>
        <p:nvPicPr>
          <p:cNvPr id="27" name="clip_8000">
            <a:hlinkClick r:id="" action="ppaction://media"/>
            <a:extLst>
              <a:ext uri="{FF2B5EF4-FFF2-40B4-BE49-F238E27FC236}">
                <a16:creationId xmlns:a16="http://schemas.microsoft.com/office/drawing/2014/main" id="{EA7F513C-4E54-3981-9BC0-07957C4061C8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800600" y="4648200"/>
            <a:ext cx="508000" cy="508000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F2DF68D-0AAF-F050-792C-F9AE6AB5FF43}"/>
              </a:ext>
            </a:extLst>
          </p:cNvPr>
          <p:cNvSpPr/>
          <p:nvPr/>
        </p:nvSpPr>
        <p:spPr>
          <a:xfrm>
            <a:off x="6223000" y="4191000"/>
            <a:ext cx="3175000" cy="1841500"/>
          </a:xfrm>
          <a:prstGeom prst="roundRect">
            <a:avLst/>
          </a:prstGeom>
          <a:solidFill>
            <a:srgbClr val="F7F8F4"/>
          </a:solidFill>
          <a:ln w="15875"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BB6EFE1-6406-56A7-87DE-6A3E63E19757}"/>
              </a:ext>
            </a:extLst>
          </p:cNvPr>
          <p:cNvSpPr txBox="1"/>
          <p:nvPr/>
        </p:nvSpPr>
        <p:spPr>
          <a:xfrm>
            <a:off x="6477000" y="4419600"/>
            <a:ext cx="180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6A737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kHz</a:t>
            </a:r>
            <a:endParaRPr lang="zh-CN" altLang="en-US" sz="2000" b="1">
              <a:solidFill>
                <a:srgbClr val="6A737D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96CC8E1-6229-F237-2795-8B711BBC90F5}"/>
              </a:ext>
            </a:extLst>
          </p:cNvPr>
          <p:cNvSpPr txBox="1"/>
          <p:nvPr/>
        </p:nvSpPr>
        <p:spPr>
          <a:xfrm>
            <a:off x="6477000" y="48514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严重失真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0F3A683-5F24-B773-3DE7-86A63C5E189F}"/>
              </a:ext>
            </a:extLst>
          </p:cNvPr>
          <p:cNvSpPr txBox="1"/>
          <p:nvPr/>
        </p:nvSpPr>
        <p:spPr>
          <a:xfrm>
            <a:off x="6477000" y="5232400"/>
            <a:ext cx="203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Nyquist</a:t>
            </a:r>
            <a:r>
              <a:rPr lang="zh-CN" altLang="en-US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2.0 kHz</a:t>
            </a:r>
            <a:endParaRPr lang="zh-CN" altLang="en-US" sz="1200">
              <a:solidFill>
                <a:srgbClr val="20242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2A195B6-1022-2F87-112B-5DD8178D3BEC}"/>
              </a:ext>
            </a:extLst>
          </p:cNvPr>
          <p:cNvSpPr txBox="1"/>
          <p:nvPr/>
        </p:nvSpPr>
        <p:spPr>
          <a:xfrm>
            <a:off x="8483600" y="5422900"/>
            <a:ext cx="736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点击播放</a:t>
            </a:r>
          </a:p>
        </p:txBody>
      </p:sp>
      <p:pic>
        <p:nvPicPr>
          <p:cNvPr id="33" name="clip_4000">
            <a:hlinkClick r:id="" action="ppaction://media"/>
            <a:extLst>
              <a:ext uri="{FF2B5EF4-FFF2-40B4-BE49-F238E27FC236}">
                <a16:creationId xmlns:a16="http://schemas.microsoft.com/office/drawing/2014/main" id="{3788595A-2C9B-3EE6-8C37-EC11F27A9017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559800" y="4648200"/>
            <a:ext cx="508000" cy="50800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6DEA70F1-E802-26CF-2068-41A287A6E4E8}"/>
              </a:ext>
            </a:extLst>
          </p:cNvPr>
          <p:cNvSpPr txBox="1"/>
          <p:nvPr/>
        </p:nvSpPr>
        <p:spPr>
          <a:xfrm>
            <a:off x="558800" y="6413500"/>
            <a:ext cx="1092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提示：所有音频已重建为 </a:t>
            </a:r>
            <a:r>
              <a:rPr lang="en-US" altLang="zh-CN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PPT </a:t>
            </a:r>
            <a:r>
              <a:rPr lang="zh-CN" altLang="en-US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兼容的 </a:t>
            </a:r>
            <a:r>
              <a:rPr lang="en-US" altLang="zh-CN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44.1 kHz WAV</a:t>
            </a:r>
            <a:r>
              <a:rPr lang="zh-CN" altLang="en-US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，卡片标题表示被模拟的采样率。</a:t>
            </a:r>
          </a:p>
        </p:txBody>
      </p:sp>
    </p:spTree>
    <p:extLst>
      <p:ext uri="{BB962C8B-B14F-4D97-AF65-F5344CB8AC3E}">
        <p14:creationId xmlns:p14="http://schemas.microsoft.com/office/powerpoint/2010/main" val="233246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5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5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0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0500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CDB1A3-1973-3EE6-06A9-25DE9AD0D438}"/>
              </a:ext>
            </a:extLst>
          </p:cNvPr>
          <p:cNvSpPr txBox="1"/>
          <p:nvPr/>
        </p:nvSpPr>
        <p:spPr>
          <a:xfrm>
            <a:off x="558800" y="431800"/>
            <a:ext cx="889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看见差异：高频能量随采样率下降而消失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7A8ECE-F614-3169-1260-2192190FA768}"/>
              </a:ext>
            </a:extLst>
          </p:cNvPr>
          <p:cNvSpPr txBox="1"/>
          <p:nvPr/>
        </p:nvSpPr>
        <p:spPr>
          <a:xfrm>
            <a:off x="584200" y="965200"/>
            <a:ext cx="965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采样率越低，</a:t>
            </a:r>
            <a:r>
              <a:rPr lang="en-US" altLang="zh-CN" sz="14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Nyquist </a:t>
            </a:r>
            <a:r>
              <a:rPr lang="zh-CN" altLang="en-US" sz="14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频率越低；为了避免混叠，系统必须先滤掉更高频率。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CCF266-CEB1-DD6D-50FA-3E9F8143A23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97000"/>
            <a:ext cx="11277600" cy="48895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DB2329C-8BCA-DD2A-8292-9F823765C9D7}"/>
              </a:ext>
            </a:extLst>
          </p:cNvPr>
          <p:cNvSpPr txBox="1"/>
          <p:nvPr/>
        </p:nvSpPr>
        <p:spPr>
          <a:xfrm>
            <a:off x="558800" y="6413500"/>
            <a:ext cx="1092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黑色竖线是每个采样率下可保留频带的大致边界。</a:t>
            </a:r>
          </a:p>
        </p:txBody>
      </p:sp>
    </p:spTree>
    <p:extLst>
      <p:ext uri="{BB962C8B-B14F-4D97-AF65-F5344CB8AC3E}">
        <p14:creationId xmlns:p14="http://schemas.microsoft.com/office/powerpoint/2010/main" val="4098073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8938E8-1E90-C3CB-9E4A-CEBA7188D8B1}"/>
              </a:ext>
            </a:extLst>
          </p:cNvPr>
          <p:cNvSpPr txBox="1"/>
          <p:nvPr/>
        </p:nvSpPr>
        <p:spPr>
          <a:xfrm>
            <a:off x="558800" y="431800"/>
            <a:ext cx="9271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看见差异：采样点变稀疏，细节难以重建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FCA368-DB9C-88C1-31F2-E6F981799C22}"/>
              </a:ext>
            </a:extLst>
          </p:cNvPr>
          <p:cNvSpPr txBox="1"/>
          <p:nvPr/>
        </p:nvSpPr>
        <p:spPr>
          <a:xfrm>
            <a:off x="584200" y="965200"/>
            <a:ext cx="1016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这个图适合讲解「每秒采样点数」这一工程含义：不是点越多越玄学，而是点数决定能跟上的最高变化速度。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CF5E05-5BE6-8B48-829B-B1A2E553CE5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22400"/>
            <a:ext cx="11277600" cy="4953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9824FFF-0B41-91B4-F4B2-48ED0505E2B2}"/>
              </a:ext>
            </a:extLst>
          </p:cNvPr>
          <p:cNvSpPr txBox="1"/>
          <p:nvPr/>
        </p:nvSpPr>
        <p:spPr>
          <a:xfrm>
            <a:off x="558800" y="6413500"/>
            <a:ext cx="1092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低采样率并不只是音量变小，而是信息本身没有被记录下来。</a:t>
            </a:r>
          </a:p>
        </p:txBody>
      </p:sp>
    </p:spTree>
    <p:extLst>
      <p:ext uri="{BB962C8B-B14F-4D97-AF65-F5344CB8AC3E}">
        <p14:creationId xmlns:p14="http://schemas.microsoft.com/office/powerpoint/2010/main" val="56060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F6ED472-3CD6-4289-AEF1-0519628682F7}"/>
              </a:ext>
            </a:extLst>
          </p:cNvPr>
          <p:cNvSpPr txBox="1"/>
          <p:nvPr/>
        </p:nvSpPr>
        <p:spPr>
          <a:xfrm>
            <a:off x="558800" y="482600"/>
            <a:ext cx="9271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工程应用结论：录音系统怎么选采样率？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70DD7E-3C9D-DE23-92A1-D4B27E5ED2B1}"/>
              </a:ext>
            </a:extLst>
          </p:cNvPr>
          <p:cNvSpPr txBox="1"/>
          <p:nvPr/>
        </p:nvSpPr>
        <p:spPr>
          <a:xfrm>
            <a:off x="965200" y="2108200"/>
            <a:ext cx="127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输入声波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9DA610-F2A5-DBF5-D134-FC22B79B4EBD}"/>
              </a:ext>
            </a:extLst>
          </p:cNvPr>
          <p:cNvSpPr txBox="1"/>
          <p:nvPr/>
        </p:nvSpPr>
        <p:spPr>
          <a:xfrm>
            <a:off x="3149600" y="2108200"/>
            <a:ext cx="165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抗混叠滤波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25B225-7D7A-952D-8948-FB58CCD18492}"/>
              </a:ext>
            </a:extLst>
          </p:cNvPr>
          <p:cNvSpPr txBox="1"/>
          <p:nvPr/>
        </p:nvSpPr>
        <p:spPr>
          <a:xfrm>
            <a:off x="5664200" y="2108200"/>
            <a:ext cx="127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A/D </a:t>
            </a:r>
            <a:r>
              <a:rPr lang="zh-CN" altLang="en-US" sz="16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采样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478678-84BD-437E-B5D0-53734C936D9F}"/>
              </a:ext>
            </a:extLst>
          </p:cNvPr>
          <p:cNvSpPr txBox="1"/>
          <p:nvPr/>
        </p:nvSpPr>
        <p:spPr>
          <a:xfrm>
            <a:off x="7810500" y="2108200"/>
            <a:ext cx="15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数字音频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22C61B-831D-9084-C30C-EFFFFBA727C6}"/>
              </a:ext>
            </a:extLst>
          </p:cNvPr>
          <p:cNvSpPr txBox="1"/>
          <p:nvPr/>
        </p:nvSpPr>
        <p:spPr>
          <a:xfrm>
            <a:off x="10033000" y="2108200"/>
            <a:ext cx="127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D/A </a:t>
            </a:r>
            <a:r>
              <a:rPr lang="zh-CN" altLang="en-US" sz="16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播放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27A12AF-9E15-2103-FA62-94DC7A558440}"/>
              </a:ext>
            </a:extLst>
          </p:cNvPr>
          <p:cNvSpPr/>
          <p:nvPr/>
        </p:nvSpPr>
        <p:spPr>
          <a:xfrm>
            <a:off x="762000" y="1498600"/>
            <a:ext cx="1524000" cy="533400"/>
          </a:xfrm>
          <a:prstGeom prst="ellipse">
            <a:avLst/>
          </a:prstGeom>
          <a:solidFill>
            <a:srgbClr val="FFFFFF"/>
          </a:solidFill>
          <a:ln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1439EE3-3C68-AD6C-384C-2F87A63AC414}"/>
              </a:ext>
            </a:extLst>
          </p:cNvPr>
          <p:cNvSpPr/>
          <p:nvPr/>
        </p:nvSpPr>
        <p:spPr>
          <a:xfrm>
            <a:off x="2946400" y="1498600"/>
            <a:ext cx="1524000" cy="533400"/>
          </a:xfrm>
          <a:prstGeom prst="ellipse">
            <a:avLst/>
          </a:prstGeom>
          <a:solidFill>
            <a:srgbClr val="FFFFFF"/>
          </a:solidFill>
          <a:ln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AAE647A-7846-4996-7A59-9CED84F1B993}"/>
              </a:ext>
            </a:extLst>
          </p:cNvPr>
          <p:cNvSpPr/>
          <p:nvPr/>
        </p:nvSpPr>
        <p:spPr>
          <a:xfrm>
            <a:off x="5435600" y="1498600"/>
            <a:ext cx="1524000" cy="533400"/>
          </a:xfrm>
          <a:prstGeom prst="ellipse">
            <a:avLst/>
          </a:prstGeom>
          <a:solidFill>
            <a:srgbClr val="FFFFFF"/>
          </a:solidFill>
          <a:ln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C225F10-B34F-9F69-E83F-A01BB9F6B8D5}"/>
              </a:ext>
            </a:extLst>
          </p:cNvPr>
          <p:cNvSpPr/>
          <p:nvPr/>
        </p:nvSpPr>
        <p:spPr>
          <a:xfrm>
            <a:off x="7569200" y="1498600"/>
            <a:ext cx="1524000" cy="533400"/>
          </a:xfrm>
          <a:prstGeom prst="ellipse">
            <a:avLst/>
          </a:prstGeom>
          <a:solidFill>
            <a:srgbClr val="FFFFFF"/>
          </a:solidFill>
          <a:ln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17CBF36-53A2-0ADA-6FDB-7ADDA04B4CD4}"/>
              </a:ext>
            </a:extLst>
          </p:cNvPr>
          <p:cNvSpPr/>
          <p:nvPr/>
        </p:nvSpPr>
        <p:spPr>
          <a:xfrm>
            <a:off x="9804400" y="1498600"/>
            <a:ext cx="1524000" cy="533400"/>
          </a:xfrm>
          <a:prstGeom prst="ellipse">
            <a:avLst/>
          </a:prstGeom>
          <a:solidFill>
            <a:srgbClr val="FFFFFF"/>
          </a:solidFill>
          <a:ln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84D2060D-6236-93D3-CDFA-16B9A54CE27F}"/>
              </a:ext>
            </a:extLst>
          </p:cNvPr>
          <p:cNvSpPr/>
          <p:nvPr/>
        </p:nvSpPr>
        <p:spPr>
          <a:xfrm>
            <a:off x="2311400" y="1638300"/>
            <a:ext cx="533400" cy="228600"/>
          </a:xfrm>
          <a:prstGeom prst="rightArrow">
            <a:avLst/>
          </a:prstGeom>
          <a:solidFill>
            <a:srgbClr val="0B6E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A8E0A14F-2759-B6B6-5207-F587E560501D}"/>
              </a:ext>
            </a:extLst>
          </p:cNvPr>
          <p:cNvSpPr/>
          <p:nvPr/>
        </p:nvSpPr>
        <p:spPr>
          <a:xfrm>
            <a:off x="4826000" y="1638300"/>
            <a:ext cx="533400" cy="228600"/>
          </a:xfrm>
          <a:prstGeom prst="rightArrow">
            <a:avLst/>
          </a:prstGeom>
          <a:solidFill>
            <a:srgbClr val="0B6E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D00108A0-7D9E-8137-4359-90CA0A0B61E8}"/>
              </a:ext>
            </a:extLst>
          </p:cNvPr>
          <p:cNvSpPr/>
          <p:nvPr/>
        </p:nvSpPr>
        <p:spPr>
          <a:xfrm>
            <a:off x="6959600" y="1638300"/>
            <a:ext cx="533400" cy="228600"/>
          </a:xfrm>
          <a:prstGeom prst="rightArrow">
            <a:avLst/>
          </a:prstGeom>
          <a:solidFill>
            <a:srgbClr val="0B6E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221B11E1-073D-7CDD-2A90-B11661FF4CB3}"/>
              </a:ext>
            </a:extLst>
          </p:cNvPr>
          <p:cNvSpPr/>
          <p:nvPr/>
        </p:nvSpPr>
        <p:spPr>
          <a:xfrm>
            <a:off x="9144000" y="1638300"/>
            <a:ext cx="533400" cy="228600"/>
          </a:xfrm>
          <a:prstGeom prst="rightArrow">
            <a:avLst/>
          </a:prstGeom>
          <a:solidFill>
            <a:srgbClr val="0B6E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B2CFED1-4481-E622-9052-89FF58C08EAA}"/>
              </a:ext>
            </a:extLst>
          </p:cNvPr>
          <p:cNvSpPr/>
          <p:nvPr/>
        </p:nvSpPr>
        <p:spPr>
          <a:xfrm>
            <a:off x="889000" y="3175000"/>
            <a:ext cx="4826000" cy="20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534C0CA-3950-EA34-30F3-7D0005CEF280}"/>
              </a:ext>
            </a:extLst>
          </p:cNvPr>
          <p:cNvSpPr txBox="1"/>
          <p:nvPr/>
        </p:nvSpPr>
        <p:spPr>
          <a:xfrm>
            <a:off x="1193800" y="3479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B6E6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满足可听范围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1516FCF-AEC9-E4BA-F16A-A47002C83955}"/>
              </a:ext>
            </a:extLst>
          </p:cNvPr>
          <p:cNvSpPr txBox="1"/>
          <p:nvPr/>
        </p:nvSpPr>
        <p:spPr>
          <a:xfrm>
            <a:off x="1193800" y="3962400"/>
            <a:ext cx="4000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若 </a:t>
            </a:r>
            <a:r>
              <a:rPr lang="en-US" altLang="zh-CN" sz="14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fmax = 20 kHz</a:t>
            </a:r>
            <a:r>
              <a:rPr lang="zh-CN" altLang="en-US" sz="14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，理论下限为 </a:t>
            </a:r>
            <a:r>
              <a:rPr lang="en-US" altLang="zh-CN" sz="14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fs &gt; 40 kHz</a:t>
            </a:r>
            <a:r>
              <a:rPr lang="zh-CN" altLang="en-US" sz="14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。工程中选 </a:t>
            </a:r>
            <a:r>
              <a:rPr lang="en-US" altLang="zh-CN" sz="14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44.1 kHz / 48 kHz</a:t>
            </a:r>
            <a:r>
              <a:rPr lang="zh-CN" altLang="en-US" sz="14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，是为了给滤波器留出过渡带。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C0217B5-6909-B5B9-D2A1-D97753F3AB8B}"/>
              </a:ext>
            </a:extLst>
          </p:cNvPr>
          <p:cNvSpPr/>
          <p:nvPr/>
        </p:nvSpPr>
        <p:spPr>
          <a:xfrm>
            <a:off x="6477000" y="3175000"/>
            <a:ext cx="4826000" cy="20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C09AB0B-58D3-CDD7-968C-E93E737A5424}"/>
              </a:ext>
            </a:extLst>
          </p:cNvPr>
          <p:cNvSpPr txBox="1"/>
          <p:nvPr/>
        </p:nvSpPr>
        <p:spPr>
          <a:xfrm>
            <a:off x="6781800" y="3479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BB6B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低采样率适用场景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876B2A-50EA-7A21-CA00-8A3C3B58A0BC}"/>
              </a:ext>
            </a:extLst>
          </p:cNvPr>
          <p:cNvSpPr txBox="1"/>
          <p:nvPr/>
        </p:nvSpPr>
        <p:spPr>
          <a:xfrm>
            <a:off x="6781800" y="3962400"/>
            <a:ext cx="3962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 kHz </a:t>
            </a:r>
            <a:r>
              <a:rPr lang="zh-CN" altLang="en-US" sz="14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足够电话语音，但不适合保真音乐；</a:t>
            </a:r>
            <a:r>
              <a:rPr lang="en-US" altLang="zh-CN" sz="14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kHz </a:t>
            </a:r>
            <a:r>
              <a:rPr lang="zh-CN" altLang="en-US" sz="14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会让乐器质感、空气感与泛音严重丢失。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00E7E3-D444-A5A1-C016-C393D28FB19A}"/>
              </a:ext>
            </a:extLst>
          </p:cNvPr>
          <p:cNvSpPr txBox="1"/>
          <p:nvPr/>
        </p:nvSpPr>
        <p:spPr>
          <a:xfrm>
            <a:off x="558800" y="6413500"/>
            <a:ext cx="1092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一句话：采样率不是越高越好，而是必须高到能覆盖目标频带，并留出工程余量。</a:t>
            </a:r>
          </a:p>
        </p:txBody>
      </p:sp>
    </p:spTree>
    <p:extLst>
      <p:ext uri="{BB962C8B-B14F-4D97-AF65-F5344CB8AC3E}">
        <p14:creationId xmlns:p14="http://schemas.microsoft.com/office/powerpoint/2010/main" val="4081735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4CE498B-5EA6-EDC9-ADD6-C69CDB59A8B3}"/>
              </a:ext>
            </a:extLst>
          </p:cNvPr>
          <p:cNvSpPr txBox="1"/>
          <p:nvPr/>
        </p:nvSpPr>
        <p:spPr>
          <a:xfrm>
            <a:off x="558800" y="482600"/>
            <a:ext cx="863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可选补充：无抗混叠滤波会怎样？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10412E-D405-20C0-2715-E78BC11A68E3}"/>
              </a:ext>
            </a:extLst>
          </p:cNvPr>
          <p:cNvSpPr txBox="1"/>
          <p:nvPr/>
        </p:nvSpPr>
        <p:spPr>
          <a:xfrm>
            <a:off x="584200" y="1066800"/>
            <a:ext cx="1009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这里把 </a:t>
            </a:r>
            <a:r>
              <a:rPr lang="en-US" altLang="zh-CN" sz="15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 kHz </a:t>
            </a:r>
            <a:r>
              <a:rPr lang="zh-CN" altLang="en-US" sz="15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采样分成两个版本：一个先滤波，一个直接采样。直接采样会把高频「折回」成错误的低频。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A78BC3E-2203-6FB4-B177-912003EE4BCF}"/>
              </a:ext>
            </a:extLst>
          </p:cNvPr>
          <p:cNvSpPr/>
          <p:nvPr/>
        </p:nvSpPr>
        <p:spPr>
          <a:xfrm>
            <a:off x="1333500" y="2159000"/>
            <a:ext cx="4191000" cy="2413000"/>
          </a:xfrm>
          <a:prstGeom prst="roundRect">
            <a:avLst/>
          </a:prstGeom>
          <a:solidFill>
            <a:srgbClr val="F7F8F4"/>
          </a:solidFill>
          <a:ln w="15875"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D15CD5-319A-A481-5812-246B124EE54C}"/>
              </a:ext>
            </a:extLst>
          </p:cNvPr>
          <p:cNvSpPr txBox="1"/>
          <p:nvPr/>
        </p:nvSpPr>
        <p:spPr>
          <a:xfrm>
            <a:off x="1676400" y="2578100"/>
            <a:ext cx="2667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0B6E6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 kHz</a:t>
            </a:r>
            <a:r>
              <a:rPr lang="zh-CN" altLang="en-US" sz="1900" b="1">
                <a:solidFill>
                  <a:srgbClr val="0B6E6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，有抗混叠滤波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A0F2D5-B258-36F4-3F08-AAC92DCF19F0}"/>
              </a:ext>
            </a:extLst>
          </p:cNvPr>
          <p:cNvSpPr txBox="1"/>
          <p:nvPr/>
        </p:nvSpPr>
        <p:spPr>
          <a:xfrm>
            <a:off x="1676400" y="30861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声音更闷，但失真较可控。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00F35F-035C-649E-EB68-6860D1DF3735}"/>
              </a:ext>
            </a:extLst>
          </p:cNvPr>
          <p:cNvSpPr txBox="1"/>
          <p:nvPr/>
        </p:nvSpPr>
        <p:spPr>
          <a:xfrm>
            <a:off x="1676400" y="3721100"/>
            <a:ext cx="1066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点击播放</a:t>
            </a:r>
          </a:p>
        </p:txBody>
      </p:sp>
      <p:pic>
        <p:nvPicPr>
          <p:cNvPr id="8" name="clip_8000">
            <a:hlinkClick r:id="" action="ppaction://media"/>
            <a:extLst>
              <a:ext uri="{FF2B5EF4-FFF2-40B4-BE49-F238E27FC236}">
                <a16:creationId xmlns:a16="http://schemas.microsoft.com/office/drawing/2014/main" id="{E02F8B97-17D9-C884-442B-B5D43BFDB0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111500" y="3581400"/>
            <a:ext cx="584200" cy="5842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109AACC4-25AB-294D-14D1-4F10B160400B}"/>
              </a:ext>
            </a:extLst>
          </p:cNvPr>
          <p:cNvSpPr/>
          <p:nvPr/>
        </p:nvSpPr>
        <p:spPr>
          <a:xfrm>
            <a:off x="6667500" y="2159000"/>
            <a:ext cx="4191000" cy="2413000"/>
          </a:xfrm>
          <a:prstGeom prst="roundRect">
            <a:avLst/>
          </a:prstGeom>
          <a:solidFill>
            <a:srgbClr val="FFF6F2"/>
          </a:solidFill>
          <a:ln w="15875">
            <a:solidFill>
              <a:srgbClr val="E3C9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743BEA-C1AB-5E8E-070A-B07AE297369B}"/>
              </a:ext>
            </a:extLst>
          </p:cNvPr>
          <p:cNvSpPr txBox="1"/>
          <p:nvPr/>
        </p:nvSpPr>
        <p:spPr>
          <a:xfrm>
            <a:off x="7010400" y="2578100"/>
            <a:ext cx="279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D1425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 kHz</a:t>
            </a:r>
            <a:r>
              <a:rPr lang="zh-CN" altLang="en-US" sz="1900" b="1">
                <a:solidFill>
                  <a:srgbClr val="D1425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，无抗混叠滤波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5EAB21-9C01-C040-887A-347F23EC1CB0}"/>
              </a:ext>
            </a:extLst>
          </p:cNvPr>
          <p:cNvSpPr txBox="1"/>
          <p:nvPr/>
        </p:nvSpPr>
        <p:spPr>
          <a:xfrm>
            <a:off x="7010400" y="3086100"/>
            <a:ext cx="2984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高频折回，可能出现奇怪的毛刺和假低频。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1A7645-CAD1-8EF2-AB20-3723AB8416F4}"/>
              </a:ext>
            </a:extLst>
          </p:cNvPr>
          <p:cNvSpPr txBox="1"/>
          <p:nvPr/>
        </p:nvSpPr>
        <p:spPr>
          <a:xfrm>
            <a:off x="7010400" y="3721100"/>
            <a:ext cx="1066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点击播放</a:t>
            </a:r>
          </a:p>
        </p:txBody>
      </p:sp>
      <p:pic>
        <p:nvPicPr>
          <p:cNvPr id="13" name="clip_8000_alias">
            <a:hlinkClick r:id="" action="ppaction://media"/>
            <a:extLst>
              <a:ext uri="{FF2B5EF4-FFF2-40B4-BE49-F238E27FC236}">
                <a16:creationId xmlns:a16="http://schemas.microsoft.com/office/drawing/2014/main" id="{38844A30-13FE-D3D9-41B0-B71EA7BE5CC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445500" y="3581400"/>
            <a:ext cx="584200" cy="5842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9568BEF-ED10-F014-4D58-009B16C5BE10}"/>
              </a:ext>
            </a:extLst>
          </p:cNvPr>
          <p:cNvSpPr txBox="1"/>
          <p:nvPr/>
        </p:nvSpPr>
        <p:spPr>
          <a:xfrm>
            <a:off x="558800" y="6413500"/>
            <a:ext cx="1092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课堂讲法：采样率不足会丢信息；没有抗混叠滤波，则会把错误信息写进数字信号。</a:t>
            </a:r>
          </a:p>
        </p:txBody>
      </p:sp>
    </p:spTree>
    <p:extLst>
      <p:ext uri="{BB962C8B-B14F-4D97-AF65-F5344CB8AC3E}">
        <p14:creationId xmlns:p14="http://schemas.microsoft.com/office/powerpoint/2010/main" val="302098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5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5329C8-0231-93AE-B08C-DF03172B3CD9}"/>
              </a:ext>
            </a:extLst>
          </p:cNvPr>
          <p:cNvSpPr txBox="1"/>
          <p:nvPr/>
        </p:nvSpPr>
        <p:spPr>
          <a:xfrm>
            <a:off x="558800" y="533400"/>
            <a:ext cx="8763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如何替换成你自己的</a:t>
            </a:r>
            <a:r>
              <a:rPr lang="en-US" altLang="zh-CN" sz="27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《Melody》</a:t>
            </a:r>
            <a:r>
              <a:rPr lang="zh-CN" altLang="en-US" sz="2700" b="1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片段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C67646-FAF1-DDF3-969D-FCEE3AAE4BCF}"/>
              </a:ext>
            </a:extLst>
          </p:cNvPr>
          <p:cNvSpPr txBox="1"/>
          <p:nvPr/>
        </p:nvSpPr>
        <p:spPr>
          <a:xfrm>
            <a:off x="584200" y="1092200"/>
            <a:ext cx="1016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为避免版权问题，当前 </a:t>
            </a:r>
            <a:r>
              <a:rPr lang="en-US" altLang="zh-CN" sz="15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PPT </a:t>
            </a:r>
            <a:r>
              <a:rPr lang="zh-CN" altLang="en-US" sz="1500">
                <a:solidFill>
                  <a:srgbClr val="59616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内嵌的是无版权测试乐句。你可以用自己拥有使用权的音频重新生成。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40BF8E4-6373-4498-B169-F78CC4550277}"/>
              </a:ext>
            </a:extLst>
          </p:cNvPr>
          <p:cNvSpPr/>
          <p:nvPr/>
        </p:nvSpPr>
        <p:spPr>
          <a:xfrm>
            <a:off x="1117600" y="2006600"/>
            <a:ext cx="9906000" cy="3022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295680-B58C-825C-7235-036503656CA9}"/>
              </a:ext>
            </a:extLst>
          </p:cNvPr>
          <p:cNvSpPr txBox="1"/>
          <p:nvPr/>
        </p:nvSpPr>
        <p:spPr>
          <a:xfrm>
            <a:off x="1549400" y="2413000"/>
            <a:ext cx="889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 </a:t>
            </a:r>
            <a:r>
              <a:rPr lang="zh-CN" altLang="en-US" sz="16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准备 </a:t>
            </a:r>
            <a:r>
              <a:rPr lang="en-US" altLang="zh-CN" sz="16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10–20 </a:t>
            </a:r>
            <a:r>
              <a:rPr lang="zh-CN" altLang="en-US" sz="16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秒 </a:t>
            </a:r>
            <a:r>
              <a:rPr lang="en-US" altLang="zh-CN" sz="16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WAV </a:t>
            </a:r>
            <a:r>
              <a:rPr lang="zh-CN" altLang="en-US" sz="16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文件，例如 </a:t>
            </a:r>
            <a:r>
              <a:rPr lang="en-US" altLang="zh-CN" sz="16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Melody_authorized.wav</a:t>
            </a:r>
            <a:endParaRPr lang="zh-CN" altLang="en-US" sz="1600">
              <a:solidFill>
                <a:srgbClr val="20242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DB97D8-2670-E7AC-BD36-963F7520A1E1}"/>
              </a:ext>
            </a:extLst>
          </p:cNvPr>
          <p:cNvSpPr txBox="1"/>
          <p:nvPr/>
        </p:nvSpPr>
        <p:spPr>
          <a:xfrm>
            <a:off x="1549400" y="2984500"/>
            <a:ext cx="889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 </a:t>
            </a:r>
            <a:r>
              <a:rPr lang="zh-CN" altLang="en-US" sz="16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放到本文件夹，或记下完整路径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99A7271-7F29-19A6-84A4-567A337D3DB4}"/>
              </a:ext>
            </a:extLst>
          </p:cNvPr>
          <p:cNvSpPr txBox="1"/>
          <p:nvPr/>
        </p:nvSpPr>
        <p:spPr>
          <a:xfrm>
            <a:off x="1549400" y="3556000"/>
            <a:ext cx="15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 </a:t>
            </a:r>
            <a:r>
              <a:rPr lang="zh-CN" altLang="en-US" sz="1600">
                <a:solidFill>
                  <a:srgbClr val="2024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运行：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DF6CA0-38D2-41F6-824E-AE5FD859F2E0}"/>
              </a:ext>
            </a:extLst>
          </p:cNvPr>
          <p:cNvSpPr txBox="1"/>
          <p:nvPr/>
        </p:nvSpPr>
        <p:spPr>
          <a:xfrm>
            <a:off x="2082800" y="4114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43A4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powershell -ExecutionPolicy Bypass -File outputs\\audio-sampling-demo\\build_audio_sampling_demo.ps1 -SourceWav .\\Melody_authorized.wav</a:t>
            </a:r>
            <a:endParaRPr lang="zh-CN" altLang="en-US" sz="1200">
              <a:solidFill>
                <a:srgbClr val="343A4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F950E1-3751-F768-5C15-673B8FF65748}"/>
              </a:ext>
            </a:extLst>
          </p:cNvPr>
          <p:cNvSpPr txBox="1"/>
          <p:nvPr/>
        </p:nvSpPr>
        <p:spPr>
          <a:xfrm>
            <a:off x="558800" y="6413500"/>
            <a:ext cx="1092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建议用 </a:t>
            </a:r>
            <a:r>
              <a:rPr lang="en-US" altLang="zh-CN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WAV/PCM </a:t>
            </a:r>
            <a:r>
              <a:rPr lang="zh-CN" altLang="en-US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输入；</a:t>
            </a:r>
            <a:r>
              <a:rPr lang="en-US" altLang="zh-CN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MP3/M4A </a:t>
            </a:r>
            <a:r>
              <a:rPr lang="zh-CN" altLang="en-US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可先用音频软件导出为 </a:t>
            </a:r>
            <a:r>
              <a:rPr lang="en-US" altLang="zh-CN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WAV</a:t>
            </a:r>
            <a:r>
              <a:rPr lang="zh-CN" altLang="en-US" sz="900">
                <a:solidFill>
                  <a:srgbClr val="737A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16131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</Words>
  <Application>Microsoft Office PowerPoint</Application>
  <PresentationFormat>自定义</PresentationFormat>
  <Paragraphs>65</Paragraphs>
  <Slides>7</Slides>
  <Notes>0</Notes>
  <HiddenSlides>0</HiddenSlides>
  <MMClips>7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Microsoft YaHei UI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子元 郑</dc:creator>
  <cp:lastModifiedBy>子元 郑</cp:lastModifiedBy>
  <cp:revision>1</cp:revision>
  <dcterms:created xsi:type="dcterms:W3CDTF">2026-05-31T07:31:44Z</dcterms:created>
  <dcterms:modified xsi:type="dcterms:W3CDTF">2026-05-31T07:31:44Z</dcterms:modified>
</cp:coreProperties>
</file>