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82770e6bc048ff" /><Relationship Type="http://schemas.openxmlformats.org/officeDocument/2006/relationships/extended-properties" Target="/docProps/app.xml" Id="Rd15d8395d1dc4c1a" /><Relationship Type="http://schemas.openxmlformats.org/officeDocument/2006/relationships/officeDocument" Target="/ppt/presentation.xml" Id="Rdd04d2d720c242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eb43f311bb4771"/>
  </p:sldMasterIdLst>
  <p:notesMasterIdLst>
    <p:notesMasterId xmlns:r="http://schemas.openxmlformats.org/officeDocument/2006/relationships" r:id="R49f1fc8d1a704168"/>
  </p:notesMasterIdLst>
  <p:sldIdLst>
    <p:sldId xmlns:r="http://schemas.openxmlformats.org/officeDocument/2006/relationships" id="256" r:id="R0862892d1a3c4a16"/>
    <p:sldId xmlns:r="http://schemas.openxmlformats.org/officeDocument/2006/relationships" id="257" r:id="R1e6947a6f3774530"/>
    <p:sldId xmlns:r="http://schemas.openxmlformats.org/officeDocument/2006/relationships" id="258" r:id="Rac7c9bd40ffd420f"/>
    <p:sldId xmlns:r="http://schemas.openxmlformats.org/officeDocument/2006/relationships" id="259" r:id="R8bcb5e3bb37b4d21"/>
    <p:sldId xmlns:r="http://schemas.openxmlformats.org/officeDocument/2006/relationships" id="260" r:id="R8301ddf9f6544a44"/>
    <p:sldId xmlns:r="http://schemas.openxmlformats.org/officeDocument/2006/relationships" id="261" r:id="Rf10fc354c1634f50"/>
    <p:sldId xmlns:r="http://schemas.openxmlformats.org/officeDocument/2006/relationships" id="262" r:id="R7c17cb62ee4e466c"/>
    <p:sldId xmlns:r="http://schemas.openxmlformats.org/officeDocument/2006/relationships" id="263" r:id="R5145b9a39fee42b6"/>
    <p:sldId xmlns:r="http://schemas.openxmlformats.org/officeDocument/2006/relationships" id="264" r:id="R3127b277f61d40b2"/>
    <p:sldId xmlns:r="http://schemas.openxmlformats.org/officeDocument/2006/relationships" id="265" r:id="Re87b36f3283c4c01"/>
    <p:sldId xmlns:r="http://schemas.openxmlformats.org/officeDocument/2006/relationships" id="266" r:id="R81b5d6e636c5448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eb43f311bb4771" /><Relationship Type="http://schemas.openxmlformats.org/officeDocument/2006/relationships/theme" Target="/ppt/theme/theme1.xml" Id="Rc1e0d3aebe974dda" /><Relationship Type="http://schemas.openxmlformats.org/officeDocument/2006/relationships/notesMaster" Target="/ppt/notesMasters/notesMaster1.xml" Id="R49f1fc8d1a704168" /><Relationship Type="http://schemas.openxmlformats.org/officeDocument/2006/relationships/presProps" Target="/ppt/presProps.xml" Id="R93d00354d0c64a84" /><Relationship Type="http://schemas.openxmlformats.org/officeDocument/2006/relationships/viewProps" Target="/ppt/viewProps.xml" Id="Rdfe0aa46dd774014" /><Relationship Type="http://schemas.openxmlformats.org/officeDocument/2006/relationships/tableStyles" Target="/ppt/tableStyles.xml" Id="R0295a1a5dc3d44e1" /><Relationship Type="http://schemas.openxmlformats.org/officeDocument/2006/relationships/slide" Target="/ppt/slides/slide1.xml" Id="R0862892d1a3c4a16" /><Relationship Type="http://schemas.openxmlformats.org/officeDocument/2006/relationships/slide" Target="/ppt/slides/slide2.xml" Id="R1e6947a6f3774530" /><Relationship Type="http://schemas.openxmlformats.org/officeDocument/2006/relationships/slide" Target="/ppt/slides/slide3.xml" Id="Rac7c9bd40ffd420f" /><Relationship Type="http://schemas.openxmlformats.org/officeDocument/2006/relationships/slide" Target="/ppt/slides/slide4.xml" Id="R8bcb5e3bb37b4d21" /><Relationship Type="http://schemas.openxmlformats.org/officeDocument/2006/relationships/slide" Target="/ppt/slides/slide5.xml" Id="R8301ddf9f6544a44" /><Relationship Type="http://schemas.openxmlformats.org/officeDocument/2006/relationships/slide" Target="/ppt/slides/slide6.xml" Id="Rf10fc354c1634f50" /><Relationship Type="http://schemas.openxmlformats.org/officeDocument/2006/relationships/slide" Target="/ppt/slides/slide7.xml" Id="R7c17cb62ee4e466c" /><Relationship Type="http://schemas.openxmlformats.org/officeDocument/2006/relationships/slide" Target="/ppt/slides/slide8.xml" Id="R5145b9a39fee42b6" /><Relationship Type="http://schemas.openxmlformats.org/officeDocument/2006/relationships/slide" Target="/ppt/slides/slide9.xml" Id="R3127b277f61d40b2" /><Relationship Type="http://schemas.openxmlformats.org/officeDocument/2006/relationships/slide" Target="/ppt/slides/slide10.xml" Id="Re87b36f3283c4c01" /><Relationship Type="http://schemas.openxmlformats.org/officeDocument/2006/relationships/slide" Target="/ppt/slides/slide11.xml" Id="R81b5d6e636c544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0c25de864ef46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42c74d69014587" /><Relationship Type="http://schemas.openxmlformats.org/officeDocument/2006/relationships/notesMaster" Target="/ppt/notesMasters/notesMaster1.xml" Id="R6b8a14f7f89d41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461c516e2d4b9a" /><Relationship Type="http://schemas.openxmlformats.org/officeDocument/2006/relationships/notesMaster" Target="/ppt/notesMasters/notesMaster1.xml" Id="R2326122816054a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d65fb67f3a4c7c" /><Relationship Type="http://schemas.openxmlformats.org/officeDocument/2006/relationships/notesMaster" Target="/ppt/notesMasters/notesMaster1.xml" Id="R3367b8d7e17140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cbc21088f94160" /><Relationship Type="http://schemas.openxmlformats.org/officeDocument/2006/relationships/notesMaster" Target="/ppt/notesMasters/notesMaster1.xml" Id="Rd7cd8102980f42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1140c32bbb461f" /><Relationship Type="http://schemas.openxmlformats.org/officeDocument/2006/relationships/notesMaster" Target="/ppt/notesMasters/notesMaster1.xml" Id="R6e0f94d129aa45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0314c7d66643c1" /><Relationship Type="http://schemas.openxmlformats.org/officeDocument/2006/relationships/notesMaster" Target="/ppt/notesMasters/notesMaster1.xml" Id="Rd078fc4f170140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851394b4e747a8" /><Relationship Type="http://schemas.openxmlformats.org/officeDocument/2006/relationships/notesMaster" Target="/ppt/notesMasters/notesMaster1.xml" Id="Red3709a6c0af4e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c8b1c87551483e" /><Relationship Type="http://schemas.openxmlformats.org/officeDocument/2006/relationships/notesMaster" Target="/ppt/notesMasters/notesMaster1.xml" Id="R38e797c807ad44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11f0693bb243c7" /><Relationship Type="http://schemas.openxmlformats.org/officeDocument/2006/relationships/notesMaster" Target="/ppt/notesMasters/notesMaster1.xml" Id="R3c8f4cf82aa44c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f2c26438b64717" /><Relationship Type="http://schemas.openxmlformats.org/officeDocument/2006/relationships/notesMaster" Target="/ppt/notesMasters/notesMaster1.xml" Id="R8d03fc967d2a48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9016bb388c4d3c" /><Relationship Type="http://schemas.openxmlformats.org/officeDocument/2006/relationships/notesMaster" Target="/ppt/notesMasters/notesMaster1.xml" Id="R67c5c2097fc64b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5b6e82a8c64ba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fa75b641ae74eac" /><Relationship Type="http://schemas.openxmlformats.org/officeDocument/2006/relationships/slideLayout" Target="/ppt/slideLayouts/slideLayout2.xml" Id="R465f0b1741914e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5f0b1741914e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2a59bb80af48c3" /><Relationship Type="http://schemas.openxmlformats.org/officeDocument/2006/relationships/image" Target="/ppt/media/image.png" Id="Reac33d53106f463d" /><Relationship Type="http://schemas.openxmlformats.org/officeDocument/2006/relationships/image" Target="/ppt/media/image.svg" Id="R73eac3716fae455e" /><Relationship Type="http://schemas.openxmlformats.org/officeDocument/2006/relationships/notesSlide" Target="/ppt/notesSlides/notesSlide1.xml" Id="R4b55ca51d0f44d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0e880892454d55" /><Relationship Type="http://schemas.openxmlformats.org/officeDocument/2006/relationships/image" Target="/ppt/media/image2.png" Id="R0d71cbd2e77b4378" /><Relationship Type="http://schemas.openxmlformats.org/officeDocument/2006/relationships/image" Target="/ppt/media/image2.svg" Id="Re155265bb19d45bb" /><Relationship Type="http://schemas.openxmlformats.org/officeDocument/2006/relationships/notesSlide" Target="/ppt/notesSlides/notesSlide2.xml" Id="Re493f1cf6e094c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2554e8e6d64ce4" /><Relationship Type="http://schemas.openxmlformats.org/officeDocument/2006/relationships/image" Target="/ppt/media/image3.png" Id="Rf2207a7382d54141" /><Relationship Type="http://schemas.openxmlformats.org/officeDocument/2006/relationships/image" Target="/ppt/media/image3.svg" Id="R9d92e39943cd434e" /><Relationship Type="http://schemas.openxmlformats.org/officeDocument/2006/relationships/notesSlide" Target="/ppt/notesSlides/notesSlide3.xml" Id="R7c25c41284ba4e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b73c513aff4993" /><Relationship Type="http://schemas.openxmlformats.org/officeDocument/2006/relationships/image" Target="/ppt/media/image4.png" Id="R701a46d0af06484f" /><Relationship Type="http://schemas.openxmlformats.org/officeDocument/2006/relationships/image" Target="/ppt/media/image4.svg" Id="R27971601a13d4d8d" /><Relationship Type="http://schemas.openxmlformats.org/officeDocument/2006/relationships/notesSlide" Target="/ppt/notesSlides/notesSlide4.xml" Id="R7adcbc213ea84a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e915b65a534736" /><Relationship Type="http://schemas.openxmlformats.org/officeDocument/2006/relationships/image" Target="/ppt/media/image5.png" Id="Rc843ea800acb4097" /><Relationship Type="http://schemas.openxmlformats.org/officeDocument/2006/relationships/image" Target="/ppt/media/image5.svg" Id="Re8b5b4400dab4797" /><Relationship Type="http://schemas.openxmlformats.org/officeDocument/2006/relationships/image" Target="/ppt/media/image6.png" Id="R4b03c8ef2b894ae7" /><Relationship Type="http://schemas.openxmlformats.org/officeDocument/2006/relationships/image" Target="/ppt/media/image6.svg" Id="Rec8f04fc28674f25" /><Relationship Type="http://schemas.openxmlformats.org/officeDocument/2006/relationships/notesSlide" Target="/ppt/notesSlides/notesSlide5.xml" Id="R986ea176ce7646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5610ff45324eb2" /><Relationship Type="http://schemas.openxmlformats.org/officeDocument/2006/relationships/image" Target="/ppt/media/image7.png" Id="R9adde14d63624222" /><Relationship Type="http://schemas.openxmlformats.org/officeDocument/2006/relationships/image" Target="/ppt/media/image7.svg" Id="R12bebc38c9df44ff" /><Relationship Type="http://schemas.openxmlformats.org/officeDocument/2006/relationships/notesSlide" Target="/ppt/notesSlides/notesSlide6.xml" Id="R4b62da5f50a54c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4fbb09fdce466e" /><Relationship Type="http://schemas.openxmlformats.org/officeDocument/2006/relationships/image" Target="/ppt/media/image8.png" Id="Rdbefae3b2dc344ee" /><Relationship Type="http://schemas.openxmlformats.org/officeDocument/2006/relationships/image" Target="/ppt/media/image8.svg" Id="Rd4c8cc9df6d243fe" /><Relationship Type="http://schemas.openxmlformats.org/officeDocument/2006/relationships/notesSlide" Target="/ppt/notesSlides/notesSlide7.xml" Id="R57fcb0c61fd54b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75a37f2266454b" /><Relationship Type="http://schemas.openxmlformats.org/officeDocument/2006/relationships/notesSlide" Target="/ppt/notesSlides/notesSlide8.xml" Id="Rd34af9c4a32b47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33a68dcff44f3f" /><Relationship Type="http://schemas.openxmlformats.org/officeDocument/2006/relationships/notesSlide" Target="/ppt/notesSlides/notesSlide9.xml" Id="Rd9e658368b554f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1b3cb1992b4fc8" /><Relationship Type="http://schemas.openxmlformats.org/officeDocument/2006/relationships/notesSlide" Target="/ppt/notesSlides/notesSlide10.xml" Id="R06e3f6552b7143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0e0ca558444fdf" /><Relationship Type="http://schemas.openxmlformats.org/officeDocument/2006/relationships/notesSlide" Target="/ppt/notesSlides/notesSlide11.xml" Id="Rb41e72b784474a5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0739DF-44E6-4FB4-B917-400D620D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3ECB9-6C76-4F01-A57C-8F34B23A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4800"/>
            <a:ext cx="11582400" cy="624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0478">
            <a:solidFill>
              <a:srgbClr val="D9DE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CD4C0-A446-44CA-8FC0-D7D28D79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rPr>
              <a:t>信号与系统 · 采样定理 · 15分钟课堂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8CA70-0347-4A3C-A1A8-ABA5A59F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484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CB426-4BDF-4C3C-AA76-DD801EBA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590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200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采样定理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46E11F-71D3-4D8C-80F3-FE0226D8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619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7F8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E7F86"/>
                </a:solidFill>
                <a:latin typeface="Microsoft YaHei UI"/>
                <a:ea typeface="Microsoft YaHei UI"/>
                <a:cs typeface="Microsoft YaHei UI"/>
              </a:rPr>
              <a:t>把连续世界，安全地装进离散序列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A469D-5625-435D-9B31-1E4B7528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rPr>
              <a:t>信号与系统 · 本科 15 分钟微课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33d53106f463d">
            <a:extLst>
              <a:ext uri="{96DAC541-7B7A-43D3-8B79-37D633B846F1}">
                <asvg:svgBlip xmlns:asvg="http://schemas.microsoft.com/office/drawing/2016/SVG/main" r:embed="R73eac3716fae455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0" y="1123950"/>
            <a:ext cx="4953000" cy="20383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1DA5E4-4DB4-481E-901A-E9C774E8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71900"/>
            <a:ext cx="4762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7F8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4FA91B-141B-4161-8E72-74AE0327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33825"/>
            <a:ext cx="4343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222E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1">
                <a:solidFill>
                  <a:srgbClr val="15222E"/>
                </a:solidFill>
                <a:latin typeface="Cambria Math"/>
                <a:ea typeface="Cambria Math"/>
                <a:cs typeface="Cambria Math"/>
              </a:rPr>
              <a:t>核心问题：</a:t>
            </a:r>
          </a:p>
          <a:p xmlns:a="http://schemas.openxmlformats.org/drawingml/2006/main">
            <a:pPr algn="l">
              <a:defRPr sz="1875" b="1">
                <a:solidFill>
                  <a:srgbClr val="15222E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1">
                <a:solidFill>
                  <a:srgbClr val="15222E"/>
                </a:solidFill>
                <a:latin typeface="Cambria Math"/>
                <a:ea typeface="Cambria Math"/>
                <a:cs typeface="Cambria Math"/>
              </a:rPr>
              <a:t>采样多快，才不会把信息采坏？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198BD-D691-440C-A3D1-24239AC5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2430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2F6DB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DDBDF3-6EC4-4523-8730-DF35A8D5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909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F6DB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1">
                <a:solidFill>
                  <a:srgbClr val="2F6DB5"/>
                </a:solidFill>
                <a:latin typeface="Microsoft YaHei UI"/>
                <a:ea typeface="Microsoft YaHei UI"/>
                <a:cs typeface="Microsoft YaHei UI"/>
              </a:rPr>
              <a:t>带宽 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2E0E91-1CF3-40BA-9E59-C9258B00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2430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1E7F8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D27D02-903E-4389-92BD-CCD09B5C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90975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E7F8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1">
                <a:solidFill>
                  <a:srgbClr val="1E7F86"/>
                </a:solidFill>
                <a:latin typeface="Microsoft YaHei UI"/>
                <a:ea typeface="Microsoft YaHei UI"/>
                <a:cs typeface="Microsoft YaHei UI"/>
              </a:rPr>
              <a:t>采样率 f_s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C1AC83-325A-4396-8AEE-2181BA8E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924300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E15D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B0DC46-A120-4361-AB40-C0895364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90975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E15D4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1">
                <a:solidFill>
                  <a:srgbClr val="E15D44"/>
                </a:solidFill>
                <a:latin typeface="Microsoft YaHei UI"/>
                <a:ea typeface="Microsoft YaHei UI"/>
                <a:cs typeface="Microsoft YaHei UI"/>
              </a:rPr>
              <a:t>混叠 aliasing</a:t>
            </a:r>
          </a:p>
        </p:txBody>
      </p:sp>
    </p:spTree>
    <p:extLst>
      <p:ext uri="{BB962C8B-B14F-4D97-AF65-F5344CB8AC3E}">
        <p14:creationId xmlns:p14="http://schemas.microsoft.com/office/powerpoint/2010/main" val="126637541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924B23-2DC9-422B-8C32-AFFB983B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55BA9-D338-4394-A40D-24A13236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4800"/>
            <a:ext cx="11582400" cy="624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0478">
            <a:solidFill>
              <a:srgbClr val="D9DE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5B625-8518-47BB-B719-756F4070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rPr>
              <a:t>信号与系统 · 采样定理 · 15分钟课堂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57CE96-245B-4B47-B526-34874646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484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22ACD2-1254-43FB-9CE1-0ABD88B4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7F8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E7F86"/>
                </a:solidFill>
                <a:latin typeface="Microsoft YaHei UI"/>
                <a:ea typeface="Microsoft YaHei UI"/>
                <a:cs typeface="Microsoft YaHei UI"/>
              </a:rPr>
              <a:t>15分钟路线图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ECCB99-8642-4EC3-9F79-8A3C9E41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先用直觉抓住定理，再用频域解释它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2206B-57EA-44C7-8A58-2194E21B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1543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C5B91E-6807-4223-9A6A-C30EF289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1543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F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3CC55-4AC4-4A4B-8463-B34818DA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4481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7F8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E7F86"/>
                </a:solidFill>
                <a:latin typeface="Microsoft YaHei UI"/>
                <a:ea typeface="Microsoft YaHei UI"/>
                <a:cs typeface="Microsoft YaHei UI"/>
              </a:rPr>
              <a:t>0-3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84859E-80F5-4A77-A1C0-A2A98885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14875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8" b="0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从拍照理解采样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A0F3DB-2ED3-44BF-BA52-2C2499F4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657725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F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4FD0E6-862B-4E8D-96BB-AEB0E727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248150"/>
            <a:ext cx="1543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6A7CE2-F909-42FF-9651-A55F53D8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248150"/>
            <a:ext cx="1543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425C9C-3BB8-4857-9759-9841C57A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4481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DB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F6DB5"/>
                </a:solidFill>
                <a:latin typeface="Microsoft YaHei UI"/>
                <a:ea typeface="Microsoft YaHei UI"/>
                <a:cs typeface="Microsoft YaHei UI"/>
              </a:rPr>
              <a:t>3-6 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2113E6-027C-4EC0-BB85-5BAC76F6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714875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8" b="0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看频谱如何复制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C2C744-46D0-4DE1-9530-6396080A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57725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AE544C-C87E-4124-AA18-BFF06218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248150"/>
            <a:ext cx="1543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4909B7-1140-4348-B041-EA302C67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248150"/>
            <a:ext cx="1543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5D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C3844B-399E-4E7D-8DCC-69DD08A6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4481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15D4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E15D44"/>
                </a:solidFill>
                <a:latin typeface="Microsoft YaHei UI"/>
                <a:ea typeface="Microsoft YaHei UI"/>
                <a:cs typeface="Microsoft YaHei UI"/>
              </a:rPr>
              <a:t>6-9 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376C1A-9F60-4D4E-AE95-1D4825A2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714875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8" b="0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混叠为什么危险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5B4C6A-6041-4316-B185-5E884B4D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57725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5D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0494CF-6B5F-43AF-9EE1-16848A94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48150"/>
            <a:ext cx="1543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96A8B3-77DA-40EF-8D04-C1FF7BDA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48150"/>
            <a:ext cx="1543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B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05D4A8-F218-47A1-BC45-F8635059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4481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B9B6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4B9B64"/>
                </a:solidFill>
                <a:latin typeface="Microsoft YaHei UI"/>
                <a:ea typeface="Microsoft YaHei UI"/>
                <a:cs typeface="Microsoft YaHei UI"/>
              </a:rPr>
              <a:t>9-12 min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EFDD62-7325-46AF-902F-2E19305C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714875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8" b="0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重建与低通滤波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5E02C5-EB18-4001-8A5E-36648806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57725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B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A935A3-2975-4E07-B56B-42A9BDC0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248150"/>
            <a:ext cx="1543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D90FF3-F268-415F-8DDF-6DD9019B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248150"/>
            <a:ext cx="1543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EB567E-2137-49A6-A732-93663958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4481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2B94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F2B94B"/>
                </a:solidFill>
                <a:latin typeface="Microsoft YaHei UI"/>
                <a:ea typeface="Microsoft YaHei UI"/>
                <a:cs typeface="Microsoft YaHei UI"/>
              </a:rPr>
              <a:t>12-15 min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E57D14-D533-4B8E-8F33-0FADC0EE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714875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8" b="0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工程规则与小测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426D02-CEAE-4A19-9F27-04146F31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6695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这一节只回答三个问题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F2E5A6-CB69-49CF-83A5-52A5E6BE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9850"/>
            <a:ext cx="4572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1. 采样到底做了什么？</a:t>
            </a:r>
          </a:p>
          <a:p xmlns:a="http://schemas.openxmlformats.org/drawingml/2006/main">
            <a:pPr algn="l">
              <a:defRPr sz="1500" b="0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2. 为什么过慢会产生混叠？</a:t>
            </a:r>
          </a:p>
          <a:p xmlns:a="http://schemas.openxmlformats.org/drawingml/2006/main">
            <a:pPr algn="l">
              <a:defRPr sz="1500" b="0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3. 真实系统怎样尽量接近理想定理？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71cbd2e77b4378">
            <a:extLst>
              <a:ext uri="{96DAC541-7B7A-43D3-8B79-37D633B846F1}">
                <asvg:svgBlip xmlns:asvg="http://schemas.microsoft.com/office/drawing/2016/SVG/main" r:embed="Re155265bb19d45b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866900"/>
            <a:ext cx="4476750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7004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F3888B-F400-4FF0-B027-CBAD3281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FA73E-4B68-455A-86A1-5023A954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4800"/>
            <a:ext cx="11582400" cy="624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0478">
            <a:solidFill>
              <a:srgbClr val="D9DE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404F76-A415-4B50-8047-17894B0D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rPr>
              <a:t>信号与系统 · 采样定理 · 15分钟课堂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FF975B-9998-4FED-9162-6F903FF3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484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B1DA5-71EC-4322-B334-3A7F2FB0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7F8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E7F86"/>
                </a:solidFill>
                <a:latin typeface="Microsoft YaHei UI"/>
                <a:ea typeface="Microsoft YaHei UI"/>
                <a:cs typeface="Microsoft YaHei UI"/>
              </a:rPr>
              <a:t>采样是什么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316AD-62B1-4C7D-A45E-47AA36B5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每隔 T_s 秒看一眼连续信号，得到一串数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207a7382d54141">
            <a:extLst>
              <a:ext uri="{96DAC541-7B7A-43D3-8B79-37D633B846F1}">
                <asvg:svgBlip xmlns:asvg="http://schemas.microsoft.com/office/drawing/2016/SVG/main" r:embed="R9d92e39943cd434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43600" y="1676400"/>
            <a:ext cx="4953000" cy="1981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D9667C-E9AB-4AF3-AA0A-19E9467C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38481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7F8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30A96F-D8C5-4EE7-A556-BAF22B45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62175"/>
            <a:ext cx="3429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222E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1">
                <a:solidFill>
                  <a:srgbClr val="15222E"/>
                </a:solidFill>
                <a:latin typeface="Cambria Math"/>
                <a:ea typeface="Cambria Math"/>
                <a:cs typeface="Cambria Math"/>
              </a:rPr>
              <a:t>x[n] = x(nT_s)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325" b="1">
                <a:solidFill>
                  <a:srgbClr val="15222E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1">
                <a:solidFill>
                  <a:srgbClr val="15222E"/>
                </a:solidFill>
                <a:latin typeface="Cambria Math"/>
                <a:ea typeface="Cambria Math"/>
                <a:cs typeface="Cambria Math"/>
              </a:rPr>
              <a:t>f_s = 1 / T_s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FDE35D-5404-4E97-B459-FC20810E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4476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T_s 越小，拍得越密；f_s 越大，频域里的复制间隔越宽。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094E5E-CF31-43F6-B25A-7B0AB47E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43450"/>
            <a:ext cx="790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rPr>
              <a:t>课堂比喻：采样像给运动中的人拍照片。照片够密，可以还原动作；照片太稀，就会误判动作方向或速度。</a:t>
            </a:r>
          </a:p>
        </p:txBody>
      </p:sp>
    </p:spTree>
    <p:extLst>
      <p:ext uri="{BB962C8B-B14F-4D97-AF65-F5344CB8AC3E}">
        <p14:creationId xmlns:p14="http://schemas.microsoft.com/office/powerpoint/2010/main" val="203976470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F62EC8-A01C-4A68-8332-FC8FAF28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963EC-9EE2-4E73-9CCE-7065EA8C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4800"/>
            <a:ext cx="11582400" cy="624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0478">
            <a:solidFill>
              <a:srgbClr val="D9DE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4CF7C1-03FC-480F-BA89-BBCF2F22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rPr>
              <a:t>信号与系统 · 采样定理 · 15分钟课堂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99400-AFE5-4DB7-B873-757A0397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484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7A66F5-B45B-48A7-84E9-9EE53227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7F8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E7F86"/>
                </a:solidFill>
                <a:latin typeface="Microsoft YaHei UI"/>
                <a:ea typeface="Microsoft YaHei UI"/>
                <a:cs typeface="Microsoft YaHei UI"/>
              </a:rPr>
              <a:t>频域里发生了什么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A9C02A-D239-468D-B19F-458C02DE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时域乘以冲激串，频域变成周期复制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1a46d0af06484f">
            <a:extLst>
              <a:ext uri="{96DAC541-7B7A-43D3-8B79-37D633B846F1}">
                <asvg:svgBlip xmlns:asvg="http://schemas.microsoft.com/office/drawing/2016/SVG/main" r:embed="R27971601a13d4d8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57800" y="1885950"/>
            <a:ext cx="5410200" cy="1962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AAF6A-0E47-4D57-98AE-F09D97D7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388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D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97FD27-5A22-46CB-90FD-A588EA19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3467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222E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1">
                <a:solidFill>
                  <a:srgbClr val="15222E"/>
                </a:solidFill>
                <a:latin typeface="Cambria Math"/>
                <a:ea typeface="Cambria Math"/>
                <a:cs typeface="Cambria Math"/>
              </a:rPr>
              <a:t>X_s(f) = f_s \sum_k X(f - k f_s)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C7D483-7CE6-44FC-8AB2-A41C8E32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6DB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2F6DB5"/>
                </a:solidFill>
                <a:latin typeface="Microsoft YaHei UI"/>
                <a:ea typeface="Microsoft YaHei UI"/>
                <a:cs typeface="Microsoft YaHei UI"/>
              </a:rPr>
              <a:t>关键直觉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83C59-277F-49D6-8568-64288718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4191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13" b="0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采样不会只“取点”。它会把原信号的频谱搬到 0, ±f_s, ±2f_s ... 附近。只要这些副本不重叠，原频谱还在中间，之后可以用低通滤波取回来。</a:t>
            </a:r>
          </a:p>
        </p:txBody>
      </p:sp>
    </p:spTree>
    <p:extLst>
      <p:ext uri="{BB962C8B-B14F-4D97-AF65-F5344CB8AC3E}">
        <p14:creationId xmlns:p14="http://schemas.microsoft.com/office/powerpoint/2010/main" val="79936132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FD3C7F-4DA5-4FD6-98CC-ACF71573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788AA4-3B64-473A-9501-6E40D45A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4800"/>
            <a:ext cx="11582400" cy="624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0478">
            <a:solidFill>
              <a:srgbClr val="D9DE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0E557-BFBA-420C-93A8-0A6C7DCB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rPr>
              <a:t>信号与系统 · 采样定理 · 15分钟课堂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D77530-236B-4EA0-89CB-53A60391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484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7C11A-21CC-4D76-B61D-93174851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7F8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E7F86"/>
                </a:solidFill>
                <a:latin typeface="Microsoft YaHei UI"/>
                <a:ea typeface="Microsoft YaHei UI"/>
                <a:cs typeface="Microsoft YaHei UI"/>
              </a:rPr>
              <a:t>采样定理一句话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154455-9B55-46A5-AA28-6764F3AD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若信号最高频率为 B，采样率至少要超过两倍带宽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691860-7F86-4A2D-B35F-B8EA0D91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3333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7F8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84BF99-B2F5-47F6-9CC6-EEB6CECA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47875"/>
            <a:ext cx="2914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E7F86"/>
                </a:solidFill>
                <a:latin typeface="Cambria Math"/>
                <a:ea typeface="Cambria Math"/>
                <a:cs typeface="Cambria Math"/>
              </a:defRPr>
            </a:pPr>
            <a:r>
              <a:rPr sz="3375" b="1">
                <a:solidFill>
                  <a:srgbClr val="1E7F86"/>
                </a:solidFill>
                <a:latin typeface="Cambria Math"/>
                <a:ea typeface="Cambria Math"/>
                <a:cs typeface="Cambria Math"/>
              </a:rPr>
              <a:t>f_s ≥ 2B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6C76D8-8181-4FBA-8047-5D81457B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3695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Nyquist 频率：f_s / 2</a:t>
            </a:r>
          </a:p>
          <a:p xmlns:a="http://schemas.openxmlformats.org/drawingml/2006/main">
            <a:pPr algn="l">
              <a:defRPr sz="1500" b="0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它是离散系统能无歧义表示的最高频率边界。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43ea800acb4097">
            <a:extLst>
              <a:ext uri="{96DAC541-7B7A-43D3-8B79-37D633B846F1}">
                <asvg:svgBlip xmlns:asvg="http://schemas.microsoft.com/office/drawing/2016/SVG/main" r:embed="Re8b5b4400dab479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48250" y="1676400"/>
            <a:ext cx="4953000" cy="16764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810E22-1942-4A84-9D5B-95C6304D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76625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B9B6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4B9B64"/>
                </a:solidFill>
                <a:latin typeface="Microsoft YaHei UI"/>
                <a:ea typeface="Microsoft YaHei UI"/>
                <a:cs typeface="Microsoft YaHei UI"/>
              </a:rPr>
              <a:t>副本分开：可恢复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03c8ef2b894ae7">
            <a:extLst>
              <a:ext uri="{96DAC541-7B7A-43D3-8B79-37D633B846F1}">
                <asvg:svgBlip xmlns:asvg="http://schemas.microsoft.com/office/drawing/2016/SVG/main" r:embed="Rec8f04fc28674f2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48250" y="4057650"/>
            <a:ext cx="4953000" cy="16764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798DC9-81A4-4046-8A59-8FE8A517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838825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15D4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E15D44"/>
                </a:solidFill>
                <a:latin typeface="Microsoft YaHei UI"/>
                <a:ea typeface="Microsoft YaHei UI"/>
                <a:cs typeface="Microsoft YaHei UI"/>
              </a:rPr>
              <a:t>副本重叠：混叠</a:t>
            </a:r>
          </a:p>
        </p:txBody>
      </p:sp>
    </p:spTree>
    <p:extLst>
      <p:ext uri="{BB962C8B-B14F-4D97-AF65-F5344CB8AC3E}">
        <p14:creationId xmlns:p14="http://schemas.microsoft.com/office/powerpoint/2010/main" val="5964272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4545B6-8CD3-4B9A-A223-C001DCC7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5869A9-0747-48DB-B052-B8CEF7FA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4800"/>
            <a:ext cx="11582400" cy="624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0478">
            <a:solidFill>
              <a:srgbClr val="D9DE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D2AFBB-A1E6-402A-B918-6DF873DE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rPr>
              <a:t>信号与系统 · 采样定理 · 15分钟课堂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D5B3A2-1183-43AC-8D66-2AA2DC80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484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98B56-C670-4B07-842E-4B24D86B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7F8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E7F86"/>
                </a:solidFill>
                <a:latin typeface="Microsoft YaHei UI"/>
                <a:ea typeface="Microsoft YaHei UI"/>
                <a:cs typeface="Microsoft YaHei UI"/>
              </a:rPr>
              <a:t>混叠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352C26-59D1-41C8-B3C2-1F29E8B7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高频会伪装成低频，而且采样后已经分不清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dde14d63624222">
            <a:extLst>
              <a:ext uri="{96DAC541-7B7A-43D3-8B79-37D633B846F1}">
                <asvg:svgBlip xmlns:asvg="http://schemas.microsoft.com/office/drawing/2016/SVG/main" r:embed="R12bebc38c9df44f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34050" y="1600200"/>
            <a:ext cx="4876800" cy="19431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7AAABD-2000-40EA-9CB3-58B9011A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4076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5D4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A75F00-B961-4E46-B4CD-43599103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05025"/>
            <a:ext cx="3657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22E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>
                <a:solidFill>
                  <a:srgbClr val="15222E"/>
                </a:solidFill>
                <a:latin typeface="Cambria Math"/>
                <a:ea typeface="Cambria Math"/>
                <a:cs typeface="Cambria Math"/>
              </a:rPr>
              <a:t>f_alias = | f - k f_s |</a:t>
            </a:r>
          </a:p>
          <a:p xmlns:a="http://schemas.openxmlformats.org/drawingml/2006/main">
            <a:pPr algn="l">
              <a:defRPr sz="1650" b="1">
                <a:solidFill>
                  <a:srgbClr val="15222E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>
                <a:solidFill>
                  <a:srgbClr val="15222E"/>
                </a:solidFill>
                <a:latin typeface="Cambria Math"/>
                <a:ea typeface="Cambria Math"/>
                <a:cs typeface="Cambria Math"/>
              </a:rPr>
              <a:t>选 k 使结果落在 [0, f_s/2]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47C136-319A-4B2C-AA58-907E2349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例：用 f_s = 10 Hz 采样 7 Hz 正弦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321377-268B-4133-A3C8-31D844CA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438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7 Hz 与 3 Hz 在这些采样点上可能给出同一串数，所以系统会“看见” 3 Hz。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01087C-BDA7-442E-BF87-4F5DCB0C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924300"/>
            <a:ext cx="4476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15D4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E15D44"/>
                </a:solidFill>
                <a:latin typeface="Microsoft YaHei UI"/>
                <a:ea typeface="Microsoft YaHei UI"/>
                <a:cs typeface="Microsoft YaHei UI"/>
              </a:rPr>
              <a:t>工程提醒：混叠不是噪声那么简单，它会把错误频率混进真实频带。</a:t>
            </a:r>
          </a:p>
        </p:txBody>
      </p:sp>
    </p:spTree>
    <p:extLst>
      <p:ext uri="{BB962C8B-B14F-4D97-AF65-F5344CB8AC3E}">
        <p14:creationId xmlns:p14="http://schemas.microsoft.com/office/powerpoint/2010/main" val="149509008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799E55-E879-4191-BF5B-9EDC2728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28CA30-66A6-4BAF-8AEE-9E6060B4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4800"/>
            <a:ext cx="11582400" cy="624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0478">
            <a:solidFill>
              <a:srgbClr val="D9DE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F7A10-56EC-4060-A588-DBAD13BF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rPr>
              <a:t>信号与系统 · 采样定理 · 15分钟课堂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F9570-E42A-4CB6-ACD9-170CCB72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484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EC6ED2-7343-4596-ABCA-2C2F6E1B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7F8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E7F86"/>
                </a:solidFill>
                <a:latin typeface="Microsoft YaHei UI"/>
                <a:ea typeface="Microsoft YaHei UI"/>
                <a:cs typeface="Microsoft YaHei UI"/>
              </a:rPr>
              <a:t>重建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C70793-69A3-4251-AD93-7FA1CBA9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理想重建不是把点连起来，而是做带限插值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efae3b2dc344ee">
            <a:extLst>
              <a:ext uri="{96DAC541-7B7A-43D3-8B79-37D633B846F1}">
                <asvg:svgBlip xmlns:asvg="http://schemas.microsoft.com/office/drawing/2016/SVG/main" r:embed="Rd4c8cc9df6d243f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410200" y="1714500"/>
            <a:ext cx="4953000" cy="1962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9D7A94-6A13-4320-A836-99714C72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4400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B9B6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FA3A2-4228-4D90-80C6-54D7137B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3981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15222E"/>
                </a:solidFill>
                <a:latin typeface="Cambria Math"/>
                <a:ea typeface="Cambria Math"/>
                <a:cs typeface="Cambria Math"/>
              </a:defRPr>
            </a:pPr>
            <a:r>
              <a:rPr sz="1463" b="1">
                <a:solidFill>
                  <a:srgbClr val="15222E"/>
                </a:solidFill>
                <a:latin typeface="Cambria Math"/>
                <a:ea typeface="Cambria Math"/>
                <a:cs typeface="Cambria Math"/>
              </a:rPr>
              <a:t>x(t) = \sum_n x[n] sinc((t - nT_s)/T_s)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FAFA2C-9C7C-4564-8253-0BDEDF59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6705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B9B64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4B9B64"/>
                </a:solidFill>
                <a:latin typeface="Cambria Math"/>
                <a:ea typeface="Cambria Math"/>
                <a:cs typeface="Cambria Math"/>
              </a:rPr>
              <a:t>sinc u = sin(πu)/(πu)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429E46-4EE2-401B-A987-347CCE08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4572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可恢复的前提很苛刻：信号要带限、采样率足够高、重建低通滤波器足够理想。现实中我们用滤波器余量换取可靠性。</a:t>
            </a:r>
          </a:p>
        </p:txBody>
      </p:sp>
    </p:spTree>
    <p:extLst>
      <p:ext uri="{BB962C8B-B14F-4D97-AF65-F5344CB8AC3E}">
        <p14:creationId xmlns:p14="http://schemas.microsoft.com/office/powerpoint/2010/main" val="50331054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B8F3E9-6206-4527-AB85-F0000B7A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CFBB4-56C3-4D41-9DC9-853749B2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4800"/>
            <a:ext cx="11582400" cy="624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0478">
            <a:solidFill>
              <a:srgbClr val="D9DE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46608-D06B-4039-B3DE-91D02632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rPr>
              <a:t>信号与系统 · 采样定理 · 15分钟课堂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1FFE4-D30E-4E0C-961B-5A6233BB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484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165EB-D012-4F04-BE7F-F566563D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7F8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E7F86"/>
                </a:solidFill>
                <a:latin typeface="Microsoft YaHei UI"/>
                <a:ea typeface="Microsoft YaHei UI"/>
                <a:cs typeface="Microsoft YaHei UI"/>
              </a:rPr>
              <a:t>真实系统怎么做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455F0-4FA8-495D-B83D-5343B1A8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工程里先防混叠，再让 ADC 去采样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4FD416-6715-4EFF-B90F-C3610C9A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1485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39CC07-5B77-4665-A564-DD708151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14859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F105D6-DFCE-4F09-9BC2-10EF05AE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1257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真实模拟信号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3B39D-22AC-4E55-AF9D-04F7B653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2895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0ED306-5EC2-439B-AA09-D7875693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52750"/>
            <a:ext cx="1143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460AD2-EB50-4498-BC11-07F83763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1485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5D4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1EE2C6-E14C-497F-86B2-6FE60965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14859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5D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0E4ED7-48F3-4872-AF90-B5ADEA6A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38450"/>
            <a:ext cx="1257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抗混叠低通滤波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7E569C-A777-4276-A76F-D844B723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2895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02F6AB-74CE-4222-A5CD-3888EB9C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52750"/>
            <a:ext cx="1143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3398B7-76CC-455B-8872-39A04AAE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28900"/>
            <a:ext cx="1485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7F8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A837C4-28EC-455A-ACF7-36D18794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28900"/>
            <a:ext cx="14859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F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B6ACFF-DA46-405B-863B-957A5C87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38450"/>
            <a:ext cx="1257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ADC 采样/量化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011704-1543-4A96-8272-1D6E3AC7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2895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8A12E2-A9DE-4E1C-AE3F-EC69B06A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52750"/>
            <a:ext cx="1143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2A33A9-FA90-4F88-A7DE-5B491935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28900"/>
            <a:ext cx="1485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E63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08DA45-41FB-4AC3-A85F-B2A1F812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28900"/>
            <a:ext cx="14859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5F24E1-E093-40FF-ACA1-FA8EB9A5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38450"/>
            <a:ext cx="1257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数字处理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8FB56B-B581-4837-BD96-B7767DCD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2895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6DD29B-D92F-41C7-9A50-9CF8AFBF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52750"/>
            <a:ext cx="1143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E47426-3BED-429A-B20D-B42E26E7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28900"/>
            <a:ext cx="1485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9B6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CB508F-5674-42A3-A748-F76BCB08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28900"/>
            <a:ext cx="14859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B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915648-22A6-4606-90AC-32EC2452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38450"/>
            <a:ext cx="1257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DAC + 重建低通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62D2B5-59BA-4CF8-B8B7-50BBAFFC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05300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15D4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E15D44"/>
                </a:solidFill>
                <a:latin typeface="Microsoft YaHei UI"/>
                <a:ea typeface="Microsoft YaHei UI"/>
                <a:cs typeface="Microsoft YaHei UI"/>
              </a:rPr>
              <a:t>为什么抗混叠滤波器要放在 ADC 前？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C89576-7EFD-44C1-941A-5D511A4D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2440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因为一旦高频成分被采样折叠进低频，数字域里再聪明的算法也很难知道它原来在哪里。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D09BA1-09A2-4DEC-BC63-12C97BD3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91150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7F8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E7F86"/>
                </a:solidFill>
                <a:latin typeface="Microsoft YaHei UI"/>
                <a:ea typeface="Microsoft YaHei UI"/>
                <a:cs typeface="Microsoft YaHei UI"/>
              </a:rPr>
              <a:t>口诀：先滤掉不想采的，再采想保留的。</a:t>
            </a:r>
          </a:p>
        </p:txBody>
      </p:sp>
    </p:spTree>
    <p:extLst>
      <p:ext uri="{BB962C8B-B14F-4D97-AF65-F5344CB8AC3E}">
        <p14:creationId xmlns:p14="http://schemas.microsoft.com/office/powerpoint/2010/main" val="113519259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54856F-BE4F-4476-A0B8-3F4083F1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127C4-736A-4FFC-A5B3-294C36F3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4800"/>
            <a:ext cx="11582400" cy="624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0478">
            <a:solidFill>
              <a:srgbClr val="D9DE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687280-2DD5-4C4F-849A-22557DC3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rPr>
              <a:t>信号与系统 · 采样定理 · 15分钟课堂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3628D-8AAB-4B05-80DF-91593500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484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E23FC-27B6-4E2B-9FB4-6FFA239D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7F8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E7F86"/>
                </a:solidFill>
                <a:latin typeface="Microsoft YaHei UI"/>
                <a:ea typeface="Microsoft YaHei UI"/>
                <a:cs typeface="Microsoft YaHei UI"/>
              </a:rPr>
              <a:t>实践例题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FBA183-63DB-474B-8F0E-4ACE4EB5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把定理换成可执行的采样方案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EF6BAC-DCC9-4179-A440-EF04C296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46863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C9795F-9CC6-4C39-B9D5-641C233E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468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137D3E-1A1E-4F8D-8350-1B29C5D6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DB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2F6DB5"/>
                </a:solidFill>
                <a:latin typeface="Microsoft YaHei UI"/>
                <a:ea typeface="Microsoft YaHei UI"/>
                <a:cs typeface="Microsoft YaHei UI"/>
              </a:rPr>
              <a:t>音频：人耳约到 20 kHz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19BDEA-E36E-4376-8420-459D29C6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3790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理论下限：f_s ≥ 40 kHz</a:t>
            </a:r>
          </a:p>
          <a:p xmlns:a="http://schemas.openxmlformats.org/drawingml/2006/main">
            <a:pPr algn="l">
              <a:defRPr sz="1425" b="0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CD 采用 44.1 kHz，给滤波器留过渡带。</a:t>
            </a:r>
          </a:p>
          <a:p xmlns:a="http://schemas.openxmlformats.org/drawingml/2006/main">
            <a:pPr algn="l">
              <a:defRPr sz="1425" b="0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工程里常用 48 kHz、96 kHz，是余量、滤波和处理便利的折中。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51642A-AF29-42DC-9509-639D5A64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3790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0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rPr>
              <a:t>不要只记“2倍”，要问滤波器有多陡、噪声有多大、后续算法需要多宽的频带。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DF16AD-BE9F-4872-B17B-752AAFEF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66900"/>
            <a:ext cx="46863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4F3574-5A00-4406-B881-B8E41241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66900"/>
            <a:ext cx="468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B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50F7C3-EE2F-433D-8DEE-4D5DCB71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9075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9B6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4B9B64"/>
                </a:solidFill>
                <a:latin typeface="Microsoft YaHei UI"/>
                <a:ea typeface="Microsoft YaHei UI"/>
                <a:cs typeface="Microsoft YaHei UI"/>
              </a:rPr>
              <a:t>振动传感：关注到 1.2 kHz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903605-A3C9-41B8-9C25-6BB89170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86050"/>
            <a:ext cx="3790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理论下限：2.4 kHz</a:t>
            </a:r>
          </a:p>
          <a:p xmlns:a="http://schemas.openxmlformats.org/drawingml/2006/main">
            <a:pPr algn="l">
              <a:defRPr sz="1425" b="0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可选采样率：5 kHz 或 10 kHz</a:t>
            </a:r>
          </a:p>
          <a:p xmlns:a="http://schemas.openxmlformats.org/drawingml/2006/main">
            <a:pPr algn="l">
              <a:defRPr sz="1425" b="0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前端低通截止略高于 1.2 kHz，过渡带落在 Nyquist 频率以下。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E15101-CDF0-4D91-8AE5-4445151C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86250"/>
            <a:ext cx="3790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0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rPr>
              <a:t>经验：采样率通常高于理论下限，留给模拟滤波器和实际信号不确定性。</a:t>
            </a:r>
          </a:p>
        </p:txBody>
      </p:sp>
    </p:spTree>
    <p:extLst>
      <p:ext uri="{BB962C8B-B14F-4D97-AF65-F5344CB8AC3E}">
        <p14:creationId xmlns:p14="http://schemas.microsoft.com/office/powerpoint/2010/main" val="38777307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392EDB-01BB-4377-9C28-847CED70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AA632-279F-4BF4-BA12-7BF28C4F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4800"/>
            <a:ext cx="11582400" cy="624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0478">
            <a:solidFill>
              <a:srgbClr val="D9DE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480CC-45BE-40AC-969A-BB5AD738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rPr>
              <a:t>信号与系统 · 采样定理 · 15分钟课堂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C33D6-1A56-4735-B3EB-1AD5C6BA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484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401C08-832F-47B1-B9FF-7E0B9F9D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7F8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E7F86"/>
                </a:solidFill>
                <a:latin typeface="Microsoft YaHei UI"/>
                <a:ea typeface="Microsoft YaHei UI"/>
                <a:cs typeface="Microsoft YaHei UI"/>
              </a:rPr>
              <a:t>1分钟检验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F97D2D-3128-4BAA-839B-8CCE622E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能说清这三题，采样定理就真的进脑子了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46488-5DCC-47F6-9EEC-911777D5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9620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3D891B-557F-4312-B748-476CF0A1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9775"/>
            <a:ext cx="666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7F8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1E7F86"/>
                </a:solidFill>
                <a:latin typeface="Microsoft YaHei UI"/>
                <a:ea typeface="Microsoft YaHei UI"/>
                <a:cs typeface="Microsoft YaHei UI"/>
              </a:rPr>
              <a:t>Q1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499D2A-A755-4EB9-A420-2989676B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98120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采样率刚好等于 2B 就万事大吉吗？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B448BD-49AB-40A0-92D0-A9847AAF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622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5" b="0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rPr>
              <a:t>理想数学可卡边界；真实工程要留余量。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44F370-85F2-4B41-8F0D-0CC7128E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9620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5D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859F83-7558-49D7-B0B5-98D9ECB3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24225"/>
            <a:ext cx="666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15D4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E15D44"/>
                </a:solidFill>
                <a:latin typeface="Microsoft YaHei UI"/>
                <a:ea typeface="Microsoft YaHei UI"/>
                <a:cs typeface="Microsoft YaHei UI"/>
              </a:rPr>
              <a:t>Q2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26E04F-7633-4A9D-91E8-D418D087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9565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混叠发生后，能不能只靠数字滤波消掉？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F151BE-ED75-4CBB-996F-D9DD0689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766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5" b="0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rPr>
              <a:t>通常不能，因为错误频率已经落进目标频带。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D06AFB-0B25-4FD5-8342-92D18494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9620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2015DA-7AEE-4560-A450-2BC6E444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38675"/>
            <a:ext cx="666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B9B6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4B9B64"/>
                </a:solidFill>
                <a:latin typeface="Microsoft YaHei UI"/>
                <a:ea typeface="Microsoft YaHei UI"/>
                <a:cs typeface="Microsoft YaHei UI"/>
              </a:rPr>
              <a:t>Q3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53DAAD-BA0A-42DE-9594-3B1F297E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1010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重建是简单连线吗？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3757AC-E385-413F-B25E-22EDF089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911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5" b="0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rPr>
              <a:t>不是。理想重建是 sinc 插值或等效低通滤波。</a:t>
            </a:r>
          </a:p>
        </p:txBody>
      </p:sp>
    </p:spTree>
    <p:extLst>
      <p:ext uri="{BB962C8B-B14F-4D97-AF65-F5344CB8AC3E}">
        <p14:creationId xmlns:p14="http://schemas.microsoft.com/office/powerpoint/2010/main" val="122549868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5ADDBD-6324-4615-B035-6E52F06D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B24A9B-0DD3-4DB9-B87B-58F5BAE7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4800"/>
            <a:ext cx="11582400" cy="624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0478">
            <a:solidFill>
              <a:srgbClr val="D9DE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15116-8D58-4991-81B4-16EB0C8F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rPr>
              <a:t>信号与系统 · 采样定理 · 15分钟课堂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C3E08-CE5F-43C5-ABBE-D3F3F5EC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484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5F6B73"/>
                </a:solidFill>
                <a:latin typeface="Microsoft YaHei UI"/>
                <a:ea typeface="Microsoft YaHei UI"/>
                <a:cs typeface="Microsoft YaHei UI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72FA3-5FC5-458B-82C0-1C9CDD5C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7F8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E7F86"/>
                </a:solidFill>
                <a:latin typeface="Microsoft YaHei UI"/>
                <a:ea typeface="Microsoft YaHei UI"/>
                <a:cs typeface="Microsoft YaHei UI"/>
              </a:rPr>
              <a:t>三句话带走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36DC20-B835-43FF-999B-F6AD433A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采样定理是带宽、采样率和滤波的共同约束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2FA83B-0C44-45B2-8055-6AFECB9A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669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F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D32598-7577-4691-9793-C977CF2B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DD5964-4D33-4499-B65F-04ECCFD7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94310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采样：x[n] = x(nT_s)，不是随便取点，而是把连续信号投到离散时间。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C5AB3A-6236-472D-8A4F-C634806E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718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EA4EB4-7B97-4010-83B1-E6B9B889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861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499C20-9F94-4A66-BADD-859E0916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04800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频域：采样会复制频谱；f_s ≥ 2B 是为了让副本不重叠。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7ACF8-926F-4DCC-8A6D-535860BC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767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B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316AFB-3842-418E-8039-204F8683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D55D64-7F84-4435-AF51-00E71D32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15290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5222E"/>
                </a:solidFill>
                <a:latin typeface="Microsoft YaHei UI"/>
                <a:ea typeface="Microsoft YaHei UI"/>
                <a:cs typeface="Microsoft YaHei UI"/>
              </a:rPr>
              <a:t>实践：先做抗混叠滤波，再采样；重建依赖低通滤波和足够余量。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87116E-C7EC-4CFB-AD89-F6A6760A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29250"/>
            <a:ext cx="8667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B9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ED2F46-404D-4F38-849E-D8433CB5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91175"/>
            <a:ext cx="824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222E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1">
                <a:solidFill>
                  <a:srgbClr val="15222E"/>
                </a:solidFill>
                <a:latin typeface="Cambria Math"/>
                <a:ea typeface="Cambria Math"/>
                <a:cs typeface="Cambria Math"/>
              </a:rPr>
              <a:t>采样率不是越低越省事，而是越低越容易让高频“混进来”。</a:t>
            </a:r>
          </a:p>
        </p:txBody>
      </p:sp>
    </p:spTree>
    <p:extLst>
      <p:ext uri="{BB962C8B-B14F-4D97-AF65-F5344CB8AC3E}">
        <p14:creationId xmlns:p14="http://schemas.microsoft.com/office/powerpoint/2010/main" val="13378785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2026-05-28T11:41:09.1590000Z</dcterms:created>
  <dcterms:modified xsi:type="dcterms:W3CDTF">2026-05-28T11:41:09.1590000Z</dcterms:modified>
</coreProperties>
</file>