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27c1ada0a049da" /><Relationship Type="http://schemas.openxmlformats.org/officeDocument/2006/relationships/extended-properties" Target="/docProps/app.xml" Id="Rf57854c7ce964f3e" /><Relationship Type="http://schemas.openxmlformats.org/officeDocument/2006/relationships/officeDocument" Target="/ppt/presentation.xml" Id="Rdbee0a950c42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99c7d076fa460a"/>
  </p:sldMasterIdLst>
  <p:notesMasterIdLst>
    <p:notesMasterId xmlns:r="http://schemas.openxmlformats.org/officeDocument/2006/relationships" r:id="Rd1c08ce720f14163"/>
  </p:notesMasterIdLst>
  <p:sldIdLst>
    <p:sldId xmlns:r="http://schemas.openxmlformats.org/officeDocument/2006/relationships" id="256" r:id="R3d77fc8e0d024b6c"/>
    <p:sldId xmlns:r="http://schemas.openxmlformats.org/officeDocument/2006/relationships" id="257" r:id="R0f62fe3ee70b483b"/>
    <p:sldId xmlns:r="http://schemas.openxmlformats.org/officeDocument/2006/relationships" id="258" r:id="R77ee1643e38e472f"/>
    <p:sldId xmlns:r="http://schemas.openxmlformats.org/officeDocument/2006/relationships" id="259" r:id="R83120715c29c427f"/>
    <p:sldId xmlns:r="http://schemas.openxmlformats.org/officeDocument/2006/relationships" id="260" r:id="R4b0bd050f6ec42a1"/>
    <p:sldId xmlns:r="http://schemas.openxmlformats.org/officeDocument/2006/relationships" id="261" r:id="R27c76536d019477e"/>
    <p:sldId xmlns:r="http://schemas.openxmlformats.org/officeDocument/2006/relationships" id="262" r:id="R9ed9dd5d5a9d4c69"/>
    <p:sldId xmlns:r="http://schemas.openxmlformats.org/officeDocument/2006/relationships" id="263" r:id="R15ff5d7c741a4ae6"/>
    <p:sldId xmlns:r="http://schemas.openxmlformats.org/officeDocument/2006/relationships" id="264" r:id="R346bbda987e041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9c7d076fa460a" /><Relationship Type="http://schemas.openxmlformats.org/officeDocument/2006/relationships/theme" Target="/ppt/theme/theme1.xml" Id="R9b7ee7ef59084c32" /><Relationship Type="http://schemas.openxmlformats.org/officeDocument/2006/relationships/notesMaster" Target="/ppt/notesMasters/notesMaster1.xml" Id="Rd1c08ce720f14163" /><Relationship Type="http://schemas.openxmlformats.org/officeDocument/2006/relationships/presProps" Target="/ppt/presProps.xml" Id="R8b1f468b7e8a4854" /><Relationship Type="http://schemas.openxmlformats.org/officeDocument/2006/relationships/viewProps" Target="/ppt/viewProps.xml" Id="Re30f62da3e8045e3" /><Relationship Type="http://schemas.openxmlformats.org/officeDocument/2006/relationships/tableStyles" Target="/ppt/tableStyles.xml" Id="R8df98f75c8554182" /><Relationship Type="http://schemas.openxmlformats.org/officeDocument/2006/relationships/slide" Target="/ppt/slides/slide1.xml" Id="R3d77fc8e0d024b6c" /><Relationship Type="http://schemas.openxmlformats.org/officeDocument/2006/relationships/slide" Target="/ppt/slides/slide2.xml" Id="R0f62fe3ee70b483b" /><Relationship Type="http://schemas.openxmlformats.org/officeDocument/2006/relationships/slide" Target="/ppt/slides/slide3.xml" Id="R77ee1643e38e472f" /><Relationship Type="http://schemas.openxmlformats.org/officeDocument/2006/relationships/slide" Target="/ppt/slides/slide4.xml" Id="R83120715c29c427f" /><Relationship Type="http://schemas.openxmlformats.org/officeDocument/2006/relationships/slide" Target="/ppt/slides/slide5.xml" Id="R4b0bd050f6ec42a1" /><Relationship Type="http://schemas.openxmlformats.org/officeDocument/2006/relationships/slide" Target="/ppt/slides/slide6.xml" Id="R27c76536d019477e" /><Relationship Type="http://schemas.openxmlformats.org/officeDocument/2006/relationships/slide" Target="/ppt/slides/slide7.xml" Id="R9ed9dd5d5a9d4c69" /><Relationship Type="http://schemas.openxmlformats.org/officeDocument/2006/relationships/slide" Target="/ppt/slides/slide8.xml" Id="R15ff5d7c741a4ae6" /><Relationship Type="http://schemas.openxmlformats.org/officeDocument/2006/relationships/slide" Target="/ppt/slides/slide9.xml" Id="R346bbda987e041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2d5d5d035b248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371dd9ed5d4560" /><Relationship Type="http://schemas.openxmlformats.org/officeDocument/2006/relationships/notesMaster" Target="/ppt/notesMasters/notesMaster1.xml" Id="R09f2ef1594954d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c50b8ebd6c4a84" /><Relationship Type="http://schemas.openxmlformats.org/officeDocument/2006/relationships/notesMaster" Target="/ppt/notesMasters/notesMaster1.xml" Id="Rc6c3fc05c68a47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cca0ed6e3f4d88" /><Relationship Type="http://schemas.openxmlformats.org/officeDocument/2006/relationships/notesMaster" Target="/ppt/notesMasters/notesMaster1.xml" Id="R3e7295dc4ac743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26e29044f84beb" /><Relationship Type="http://schemas.openxmlformats.org/officeDocument/2006/relationships/notesMaster" Target="/ppt/notesMasters/notesMaster1.xml" Id="Rb287bb20e6ca4c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b449fede784df5" /><Relationship Type="http://schemas.openxmlformats.org/officeDocument/2006/relationships/notesMaster" Target="/ppt/notesMasters/notesMaster1.xml" Id="Ra383791e86eb4b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9c032a50ce49e0" /><Relationship Type="http://schemas.openxmlformats.org/officeDocument/2006/relationships/notesMaster" Target="/ppt/notesMasters/notesMaster1.xml" Id="R7ce5aea187764a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323755eb9345cd" /><Relationship Type="http://schemas.openxmlformats.org/officeDocument/2006/relationships/notesMaster" Target="/ppt/notesMasters/notesMaster1.xml" Id="R3c6fe60d3ed346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059956f9b944d8" /><Relationship Type="http://schemas.openxmlformats.org/officeDocument/2006/relationships/notesMaster" Target="/ppt/notesMasters/notesMaster1.xml" Id="Rd8c824cc91294c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a637911bf84cd8" /><Relationship Type="http://schemas.openxmlformats.org/officeDocument/2006/relationships/notesMaster" Target="/ppt/notesMasters/notesMaster1.xml" Id="Reea72a97fbb641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89adee78e475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5e9092ccb51478a" /><Relationship Type="http://schemas.openxmlformats.org/officeDocument/2006/relationships/slideLayout" Target="/ppt/slideLayouts/slideLayout2.xml" Id="Rac54619e42ec48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54619e42ec48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067a2748934e51" /><Relationship Type="http://schemas.openxmlformats.org/officeDocument/2006/relationships/image" Target="/ppt/media/image.png" Id="Rc2e0b0c5c8284c69" /><Relationship Type="http://schemas.openxmlformats.org/officeDocument/2006/relationships/image" Target="/ppt/media/image2.png" Id="R00765f72648e441c" /><Relationship Type="http://schemas.openxmlformats.org/officeDocument/2006/relationships/image" Target="/ppt/media/image3.png" Id="R711e587e7a0741f1" /><Relationship Type="http://schemas.openxmlformats.org/officeDocument/2006/relationships/notesSlide" Target="/ppt/notesSlides/notesSlide1.xml" Id="Ra280bd32321c44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2ae506f5a442f6" /><Relationship Type="http://schemas.openxmlformats.org/officeDocument/2006/relationships/image" Target="/ppt/media/image4.png" Id="R62ec722715c04a30" /><Relationship Type="http://schemas.openxmlformats.org/officeDocument/2006/relationships/notesSlide" Target="/ppt/notesSlides/notesSlide2.xml" Id="R1f60d4f5e78e44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5d179c04a240c8" /><Relationship Type="http://schemas.openxmlformats.org/officeDocument/2006/relationships/image" Target="/ppt/media/image5.png" Id="Rc4265dcf6b934426" /><Relationship Type="http://schemas.openxmlformats.org/officeDocument/2006/relationships/notesSlide" Target="/ppt/notesSlides/notesSlide3.xml" Id="Ra268d3d5f02840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4a380145db40f3" /><Relationship Type="http://schemas.openxmlformats.org/officeDocument/2006/relationships/image" Target="/ppt/media/image6.png" Id="R170310dd871349be" /><Relationship Type="http://schemas.openxmlformats.org/officeDocument/2006/relationships/notesSlide" Target="/ppt/notesSlides/notesSlide4.xml" Id="Rebe5e6f6c1db40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39fc37b6b34186" /><Relationship Type="http://schemas.openxmlformats.org/officeDocument/2006/relationships/image" Target="/ppt/media/image7.png" Id="R0cd176314cc24bb7" /><Relationship Type="http://schemas.openxmlformats.org/officeDocument/2006/relationships/image" Target="/ppt/media/image8.png" Id="Rcfa2de60f0b644a3" /><Relationship Type="http://schemas.openxmlformats.org/officeDocument/2006/relationships/notesSlide" Target="/ppt/notesSlides/notesSlide5.xml" Id="Rdc1261aab3d14f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f4d9ba701c4053" /><Relationship Type="http://schemas.openxmlformats.org/officeDocument/2006/relationships/image" Target="/ppt/media/image9.png" Id="R8121f241a88846c7" /><Relationship Type="http://schemas.openxmlformats.org/officeDocument/2006/relationships/notesSlide" Target="/ppt/notesSlides/notesSlide6.xml" Id="Rd1e228ef149e4a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17e14486cd4409" /><Relationship Type="http://schemas.openxmlformats.org/officeDocument/2006/relationships/image" Target="/ppt/media/image10.png" Id="Rc7d2bb68c19c43a6" /><Relationship Type="http://schemas.openxmlformats.org/officeDocument/2006/relationships/image" Target="/ppt/media/image11.png" Id="R40a85e8673a84dfb" /><Relationship Type="http://schemas.openxmlformats.org/officeDocument/2006/relationships/notesSlide" Target="/ppt/notesSlides/notesSlide7.xml" Id="R5fe4a9523c1347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f51516df4643c6" /><Relationship Type="http://schemas.openxmlformats.org/officeDocument/2006/relationships/notesSlide" Target="/ppt/notesSlides/notesSlide8.xml" Id="Rafb56159862e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913cc2c3084c97" /><Relationship Type="http://schemas.openxmlformats.org/officeDocument/2006/relationships/image" Target="/ppt/media/image12.png" Id="R6ad703e4272f4bdc" /><Relationship Type="http://schemas.openxmlformats.org/officeDocument/2006/relationships/image" Target="/ppt/media/image13.png" Id="R4e6830e0f5014404" /><Relationship Type="http://schemas.openxmlformats.org/officeDocument/2006/relationships/image" Target="/ppt/media/image14.png" Id="R2ae45ff841a74495" /><Relationship Type="http://schemas.openxmlformats.org/officeDocument/2006/relationships/notesSlide" Target="/ppt/notesSlides/notesSlide9.xml" Id="R292e87ef0acb4f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6ED224-1FE3-4395-BB39-D4364661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B4A0E-3F7A-41A6-AE54-E621E522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采样定理演示器：PPT 插入版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330AF-A9B0-40B1-A1C3-6189A37D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48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rPr>
              <a:t>三张课堂画面：正常采样、混叠折回、重建公式，可直接复制到现有课件中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28E86-A012-4720-88FA-0A7435F0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3638550" cy="40957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41D28"/>
          </a:solidFill>
          <a:ln xmlns:a="http://schemas.openxmlformats.org/drawingml/2006/main" w="9525">
            <a:solidFill>
              <a:srgbClr val="304052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0b0c5c8284c69"/>
          <a:srcRect xmlns:a="http://schemas.openxmlformats.org/drawingml/2006/main" l="219" t="0" r="2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371600"/>
            <a:ext cx="3371850" cy="1905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B2580-974A-4760-94E3-3372BB1E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633"/>
          </a:solidFill>
          <a:ln xmlns:a="http://schemas.openxmlformats.org/drawingml/2006/main" w="9525">
            <a:solidFill>
              <a:srgbClr val="3FE1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F5708-16B4-4908-8D36-C52EB7AA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rPr>
              <a:t>1 / 满足 Nyquist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A87034-28B6-4A93-A696-A66802EA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频谱副本分开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8EE37-FCB0-41EA-812C-69784315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rPr>
              <a:t>fs = 400 Hz，fN = 200 Hz，fmax = 120 Hz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1906F1-8E51-4511-AC3D-1758F6D1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00150"/>
            <a:ext cx="3638550" cy="40957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41D28"/>
          </a:solidFill>
          <a:ln xmlns:a="http://schemas.openxmlformats.org/drawingml/2006/main" w="9525">
            <a:solidFill>
              <a:srgbClr val="30405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65f72648e441c"/>
          <a:srcRect xmlns:a="http://schemas.openxmlformats.org/drawingml/2006/main" l="219" t="0" r="2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1371600"/>
            <a:ext cx="3371850" cy="1905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7613A-E2A0-4EEB-BD62-18027DC3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6710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633"/>
          </a:solidFill>
          <a:ln xmlns:a="http://schemas.openxmlformats.org/drawingml/2006/main" w="9525">
            <a:solidFill>
              <a:srgbClr val="FF4F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D14CE-BAAA-4F49-839C-FEF48EAE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242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rPr>
              <a:t>2 / 发生混叠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58345-2849-4B1C-925D-A41CFE0B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120 Hz 折回成 30 Hz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35975-9A3B-478F-A68A-5F797CC1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0530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rPr>
              <a:t>fs = 150 Hz，fN = 75 Hz，重建看到的是假频率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AE1E60-E52E-4BC6-A521-F75CEF4B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00150"/>
            <a:ext cx="3638550" cy="40957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41D28"/>
          </a:solidFill>
          <a:ln xmlns:a="http://schemas.openxmlformats.org/drawingml/2006/main" w="9525">
            <a:solidFill>
              <a:srgbClr val="30405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e587e7a0741f1"/>
          <a:srcRect xmlns:a="http://schemas.openxmlformats.org/drawingml/2006/main" l="219" t="0" r="2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371600"/>
            <a:ext cx="3371850" cy="19050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6B82C-6400-4676-BE2A-8E1168D4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67100"/>
            <a:ext cx="13525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B2633"/>
          </a:solidFill>
          <a:ln xmlns:a="http://schemas.openxmlformats.org/drawingml/2006/main" w="9525">
            <a:solidFill>
              <a:srgbClr val="3FE1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79108-DE87-48FF-BEDC-1F4349EB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2425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rPr>
              <a:t>3 / 理想重建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F04F0-2614-4018-B5D0-E5BF95E6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低通滤波等价 Sinc 插值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A7EA8B-DC89-4CB3-93F4-5694E1D3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0530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rPr>
              <a:t>x̂(t) = Σ x[n] sinc(fs t - n)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D75A1-80BE-4D06-947E-92B127E8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57850"/>
            <a:ext cx="11353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E3C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043F64-1B90-495B-A56D-8120265A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85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插入建议：把这份小课件中的任一页复制到原 PPT；若想现场互动，保留 HTML 文件并在讲课时切到浏览器演示。</a:t>
            </a:r>
          </a:p>
        </p:txBody>
      </p:sp>
    </p:spTree>
    <p:extLst>
      <p:ext uri="{BB962C8B-B14F-4D97-AF65-F5344CB8AC3E}">
        <p14:creationId xmlns:p14="http://schemas.microsoft.com/office/powerpoint/2010/main" val="1316210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c722715c04a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49C8E-73BB-4F48-B878-C97BDB98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F2888-FAF8-45D1-9D34-392452A5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D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40333-983D-464F-8046-617B6CE6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661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满足 Nyquist 条件时，频谱副本互不重叠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F27FD-06FE-437C-907F-FBA90326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695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rPr>
              <a:t>当前 fs = 400 Hz，fN = 200 Hz，最高频率 fmax = 120 Hz。理想低通只截取中心频带，就能还原原始频谱。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C061F-1968-4A62-BCB5-06089CB6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848350"/>
            <a:ext cx="219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7BD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205A0-C8EE-4C54-B6AB-C38D3CAB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96265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fs ≥ 2 fmax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6F3BC-1CE0-434C-A73F-B4331C5F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48350"/>
            <a:ext cx="1314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7BD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776E6-DDCB-4144-9E80-66E346AC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972175"/>
            <a:ext cx="100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400 ≥ 240</a:t>
            </a:r>
          </a:p>
        </p:txBody>
      </p:sp>
    </p:spTree>
    <p:extLst>
      <p:ext uri="{BB962C8B-B14F-4D97-AF65-F5344CB8AC3E}">
        <p14:creationId xmlns:p14="http://schemas.microsoft.com/office/powerpoint/2010/main" val="10106197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65dcf6b9344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9F007-3F36-4E27-BC8F-1B45C9CC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81650"/>
            <a:ext cx="121920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967E0-0879-4305-964C-4F395B1A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7E4AC-5ED5-4D93-A4A4-21140934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661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采样不足时，超出通带的频率会折回成假频率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D7638-7FC1-4EDB-A091-7361B19D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695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2EF"/>
                </a:solidFill>
                <a:latin typeface="Microsoft YaHei"/>
                <a:ea typeface="Microsoft YaHei"/>
                <a:cs typeface="Microsoft YaHei"/>
              </a:rPr>
              <a:t>当前 fs = 150 Hz，fN = 75 Hz；120 Hz 已经超出中心通带。最近的频谱副本把它折回到 30 Hz。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8CB6E-F593-4568-B1A3-20DCBC28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73405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FF4F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C81E2-7348-4C35-9FBA-19AF9662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824538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falias = |f - kfs|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E5AEB-AF1C-4817-B734-FAF1649E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248400"/>
            <a:ext cx="4171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FF4F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B4F41-9738-4E06-BCA0-1C3D5E76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338888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|120 - 1×150| = 30 Hz</a:t>
            </a:r>
          </a:p>
        </p:txBody>
      </p:sp>
    </p:spTree>
    <p:extLst>
      <p:ext uri="{BB962C8B-B14F-4D97-AF65-F5344CB8AC3E}">
        <p14:creationId xmlns:p14="http://schemas.microsoft.com/office/powerpoint/2010/main" val="13978385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05E480-9C6B-4334-B8DD-99FDCAB7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CF9AB-AA09-4AE4-8C93-266FE586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理想重建的机理：低通滤波 ⇄ Sinc 插值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D00C8-2880-46DE-BB88-E1564A14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48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rPr>
              <a:t>采样在频域制造周期副本；重建就是截回中心频带，并在时域表现为 sinc 基函数叠加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310dd871349be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123950"/>
            <a:ext cx="6972300" cy="3924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FC71F-446A-478A-B370-23CA4659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123950"/>
            <a:ext cx="4019550" cy="3924300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141D28"/>
          </a:solidFill>
          <a:ln xmlns:a="http://schemas.openxmlformats.org/drawingml/2006/main" w="9525">
            <a:solidFill>
              <a:srgbClr val="3040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8809D-C992-44BB-ADFD-886E9EAC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906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从公式读机理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BC54F-BFB3-4968-A64D-1A1A3951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3333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1. 乘冲激梳：只留下 nTs 时刻的样本</a:t>
            </a:r>
          </a:p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2. 频域复制：X(f) 每隔 fs 重复一次</a:t>
            </a:r>
          </a:p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3. 理想低通：只取 |f| ≤ fN 的中心副本</a:t>
            </a:r>
          </a:p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4. Sinc 插值：每个样本贡献一条 sinc 曲线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2C83F-4EF3-46FD-B7EF-4955422E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3219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3FE1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5F624-19C6-4CBE-8144-9A647272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xs(t) = x(t) · Σδ(t - nTs)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FD2CD-9257-42A0-973B-DEC2BACC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3219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FFAE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F978E-7789-4FCE-9744-A8C3EEA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Xs(f) = fs · ΣX(f - kfs)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2A1CE-47F8-49D8-937F-F296466D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33900"/>
            <a:ext cx="3219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E64B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D7DC4-8051-4908-9CF1-09878DFC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2914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x̂(t) = Σx[n] sinc(fs t - 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103CF-8F99-4E37-B7AF-A3D0DAC6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05450"/>
            <a:ext cx="11353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9525">
            <a:solidFill>
              <a:srgbClr val="2E3C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9F1C7-F8AF-4A0F-8411-F489BB1C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76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讲解口径：采样定理的核心不是“点够不够密”，而是频域副本之间是否留有空隙；一旦副本重叠，低通滤波器无法分辨真频率和复制频率。</a:t>
            </a:r>
          </a:p>
        </p:txBody>
      </p:sp>
    </p:spTree>
    <p:extLst>
      <p:ext uri="{BB962C8B-B14F-4D97-AF65-F5344CB8AC3E}">
        <p14:creationId xmlns:p14="http://schemas.microsoft.com/office/powerpoint/2010/main" val="20374269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A7097-28CC-43D0-968A-58FB82E1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8E9AF-89C9-4503-AC88-FE05BA40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图片采样 Demo：像素网格就是二维采样器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47562-5529-46CE-A460-8A6C95AA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48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rPr>
              <a:t>把一张高频测试图看成连续图像 x(x, y)，相机/屏幕的像素点就是在二维平面上取样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176314cc24bb7"/>
          <a:srcRect xmlns:a="http://schemas.openxmlformats.org/drawingml/2006/main" l="0" t="2422" r="0" b="24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352550"/>
            <a:ext cx="6096000" cy="3867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30830-58C8-4D9F-8F6E-EBB9D863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1485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1430">
            <a:solidFill>
              <a:srgbClr val="7BD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6E909-1C11-428A-92C7-EFE09A2C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rPr>
              <a:t>原始高分辨率图像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2de60f0b644a3"/>
          <a:srcRect xmlns:a="http://schemas.openxmlformats.org/drawingml/2006/main" l="0" t="2832" r="0" b="2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1352550"/>
            <a:ext cx="4876800" cy="3067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0241A-C7E1-4984-BA9C-29F0EFEF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009650"/>
            <a:ext cx="1066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1430">
            <a:solidFill>
              <a:srgbClr val="FFAE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73D96-05E5-40F1-A14D-DF49846B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0572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A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AE2B"/>
                </a:solidFill>
                <a:latin typeface="Microsoft YaHei"/>
                <a:ea typeface="Microsoft YaHei"/>
                <a:cs typeface="Microsoft YaHei"/>
              </a:rPr>
              <a:t>采样网格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8F08B-27A4-4956-AD61-CCEA84C0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05350"/>
            <a:ext cx="4876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A25"/>
          </a:solidFill>
          <a:ln xmlns:a="http://schemas.openxmlformats.org/drawingml/2006/main" w="9525">
            <a:solidFill>
              <a:srgbClr val="2E3C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646EE-4D75-45B1-984B-6A5B89D2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95850"/>
            <a:ext cx="4400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课堂提示：先看圆环、斜纹、棋盘格；再打开采样网格，说明每个黄点只保留一个像素值。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4DBCE9-714C-4BC8-9C3C-2BAF1EC5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D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01A21-0D06-440E-A73B-CE75E489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B2D90-1417-4FEB-9EF9-0794722C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816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连续图像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5CFE1-9864-4D00-AF54-1022D7CE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857875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rPr>
              <a:t>空间频率很高：细纹、边缘、棋盘格都在挑战采样率。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B34A8-B479-46D8-8A73-78BCB848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62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E1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EF0A2-0770-4A10-AB2F-C3E56762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673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ED81B3-0EFE-4343-BFD5-BF1069D5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5816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离散取样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9B9CD-208E-4FD2-8F5E-587C2A09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857875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rPr>
              <a:t>每隔若干像素取一个样本，得到二维序列 x[m, n]。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99F94-CABF-4693-84EF-72B0A3D2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62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E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2F016-B923-4942-95BE-F621CDDA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67375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7B5A9-3BB3-4F2F-AC29-8A97782C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816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显示重建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2B783F-8D6C-48C4-9F35-4B415487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57875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rPr>
              <a:t>用最近邻或插值放大，肉眼看到的是重建后的结果。</a:t>
            </a:r>
          </a:p>
        </p:txBody>
      </p:sp>
    </p:spTree>
    <p:extLst>
      <p:ext uri="{BB962C8B-B14F-4D97-AF65-F5344CB8AC3E}">
        <p14:creationId xmlns:p14="http://schemas.microsoft.com/office/powerpoint/2010/main" val="17928367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F62DD-4452-4EE5-B3F6-8DC4EFD7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9F93B-A7CD-4AC8-9305-2CF51C04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采样率越低，图像里的高频纹理越容易变成假纹理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2C155-64E6-4B16-9E30-18CF762F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48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rPr>
              <a:t>同一张图，采样间隔从 8 px 到 24 px 增大；保留的样本更少，混叠和块状感同时出现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1f241a88846c7"/>
          <a:stretch xmlns:a="http://schemas.openxmlformats.org/drawingml/2006/main"/>
        </p:blipFill>
        <p:spPr>
          <a:xfrm xmlns:a="http://schemas.openxmlformats.org/drawingml/2006/main">
            <a:off x="381000" y="1104900"/>
            <a:ext cx="11430000" cy="5000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CCB41-33BB-41E1-8C43-7A8ED1D7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0478">
            <a:solidFill>
              <a:srgbClr val="7BD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0B52D-0F97-4B83-A1C6-8D797444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67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rPr>
              <a:t>原图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3A280-EFD8-4845-A7F6-866EF952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34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rPr>
              <a:t>细节真实，但频率很高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268BC-8E32-45DE-B3F3-99068C9D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210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0478">
            <a:solidFill>
              <a:srgbClr val="3FE1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E6CBF-72D2-4295-8F61-7B55A12A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267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rPr>
              <a:t>每 8 px 取样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D2B14-4506-4491-A718-6D888AA9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534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rPr>
              <a:t>圆环开始折回成粗纹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4A38F-6338-4BB6-B519-6B1416F2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210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0478">
            <a:solidFill>
              <a:srgbClr val="FF4F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4E8F7-FF32-42D1-B10D-6C047C5B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267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rPr>
              <a:t>每 16 px 取样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966D2-1620-4C70-BA4B-C4248D03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534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rPr>
              <a:t>斜纹和棋盘格出现伪色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AFBEE-6B7C-4272-9306-312D02F6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210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0478">
            <a:solidFill>
              <a:srgbClr val="FFAE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3EAC2-B6EE-4F19-8E6B-7FD9DCE1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2674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A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AE2B"/>
                </a:solidFill>
                <a:latin typeface="Microsoft YaHei"/>
                <a:ea typeface="Microsoft YaHei"/>
                <a:cs typeface="Microsoft YaHei"/>
              </a:rPr>
              <a:t>每 24 px 取样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BF7E4-A1A2-4BAF-9370-B6175889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CDD9E7"/>
                </a:solidFill>
                <a:latin typeface="Microsoft YaHei"/>
                <a:ea typeface="Microsoft YaHei"/>
                <a:cs typeface="Microsoft YaHei"/>
              </a:rPr>
              <a:t>保留的是错误的低频图案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9BEFE-3BD3-4121-8F57-CAEB9343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C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8EA27-F4E5-4E56-94D8-2982A9AA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239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E1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E1A3"/>
                </a:solidFill>
                <a:latin typeface="Microsoft YaHei"/>
                <a:ea typeface="Microsoft YaHei"/>
                <a:cs typeface="Microsoft YaHei"/>
              </a:rPr>
              <a:t>观察点：右下角棋盘格的颜色不是“变模糊”，而是变成了另一组错误的彩色块；这就是二维混叠。</a:t>
            </a:r>
          </a:p>
        </p:txBody>
      </p:sp>
    </p:spTree>
    <p:extLst>
      <p:ext uri="{BB962C8B-B14F-4D97-AF65-F5344CB8AC3E}">
        <p14:creationId xmlns:p14="http://schemas.microsoft.com/office/powerpoint/2010/main" val="17512115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859461-7CD1-442D-8EC8-93EA4780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D08BF-2D0A-4B08-A3D9-A8E3EC07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先低通再采样：牺牲锐度，换来不产生假的细节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F12B0-32A4-4D09-B9B3-E33095B9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48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rPr>
              <a:t>两边采样点数量相同；区别只是采样前有没有把超过 Nyquist 的空间频率滤掉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2bb68c19c43a6"/>
          <a:srcRect xmlns:a="http://schemas.openxmlformats.org/drawingml/2006/main" l="0" t="77" r="0" b="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104900"/>
            <a:ext cx="8267700" cy="346710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85e8673a84dfb"/>
          <a:srcRect xmlns:a="http://schemas.openxmlformats.org/drawingml/2006/main" l="0" t="13646" r="0" b="136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4762500"/>
            <a:ext cx="6057900" cy="1581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EA4E2-B503-4ED9-9DAA-9B1C2B0A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181100"/>
            <a:ext cx="2971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1430">
            <a:solidFill>
              <a:srgbClr val="FF4F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C460B-3954-47D7-8F37-BD54C9EA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239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rPr>
              <a:t>直接采样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6312B-8B03-428A-9E63-8EA72BDC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09725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保留了不该保留的高频副本，重建后出现伪色、假圆环和块状纹理。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086D1-723D-444E-B732-D013E656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24100"/>
            <a:ext cx="2971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1430">
            <a:solidFill>
              <a:srgbClr val="7BD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32C63-68D4-4DF9-98D0-2D337C61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669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rPr>
              <a:t>低通后采样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F1AE3-D173-4892-B11F-AC46FF41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52725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图像更软，但高频成分先被压低；重建结果更接近“真实低分辨率”。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CBB80-3A3B-43B9-A4DF-C9A2394D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67100"/>
            <a:ext cx="29718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1430">
            <a:solidFill>
              <a:srgbClr val="FFAE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25767-85CB-4472-B0EA-3B939CEA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99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A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AE2B"/>
                </a:solidFill>
                <a:latin typeface="Microsoft YaHei"/>
                <a:ea typeface="Microsoft YaHei"/>
                <a:cs typeface="Microsoft YaHei"/>
              </a:rPr>
              <a:t>讲课类比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3F44F-76E9-4BD6-9955-AD0E67AE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95725"/>
            <a:ext cx="2552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相机的光学低通滤镜、图像缩放的抗锯齿，本质都是采样前的预处理。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6351D-DEBD-4C3E-93B9-30396A2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53000"/>
            <a:ext cx="48196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11A25"/>
          </a:solidFill>
          <a:ln xmlns:a="http://schemas.openxmlformats.org/drawingml/2006/main" w="9525">
            <a:solidFill>
              <a:srgbClr val="2E3C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BD93F-B543-49F4-8CA6-ABADDBC2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625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rPr>
              <a:t>一句话结论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B716A-3DA8-475C-A89E-C7E0E5FF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292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降采样不是“随便少拿几个点”。先滤掉无法表达的频率，才不会把不存在的低频图案带进结果。</a:t>
            </a:r>
          </a:p>
        </p:txBody>
      </p:sp>
    </p:spTree>
    <p:extLst>
      <p:ext uri="{BB962C8B-B14F-4D97-AF65-F5344CB8AC3E}">
        <p14:creationId xmlns:p14="http://schemas.microsoft.com/office/powerpoint/2010/main" val="16859004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E1E0BD-254A-479F-A3C4-63C5A988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0671B-AE1C-4278-98A1-64140BCC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二维图片也遵守 Nyquist：x、y 方向都不能欠采样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73864-E86E-406D-A276-71C5E2BB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48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rPr>
              <a:t>空间频率副本会复制；欠采样时副本重叠，屏幕上就出现伪纹和伪色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02CCB-311F-49D7-8EBC-FE4494C9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7BD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9786F-9C65-495C-9AB8-6D0ACDDC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92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1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3B8DE-F6F9-448A-821D-ACEB9A92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19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1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09C16-FCAD-43B9-89B1-8A14C007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9"/>
                </a:solidFill>
                <a:latin typeface="Aptos"/>
                <a:ea typeface="Aptos"/>
                <a:cs typeface="Aptos"/>
              </a:rPr>
              <a:t>fx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161FB-1533-4811-9D76-C4E815FD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9"/>
                </a:solidFill>
                <a:latin typeface="Aptos"/>
                <a:ea typeface="Aptos"/>
                <a:cs typeface="Aptos"/>
              </a:rPr>
              <a:t>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F6644-7265-48CC-932A-2C467C56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0858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647"/>
          </a:solidFill>
          <a:ln xmlns:a="http://schemas.openxmlformats.org/drawingml/2006/main" w="10478">
            <a:solidFill>
              <a:srgbClr val="6071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93E22-7401-4F5A-8227-C6AE468B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647"/>
          </a:solidFill>
          <a:ln xmlns:a="http://schemas.openxmlformats.org/drawingml/2006/main" w="10478">
            <a:solidFill>
              <a:srgbClr val="6071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0E0BD-64F1-423B-842C-C5FF6E71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647"/>
          </a:solidFill>
          <a:ln xmlns:a="http://schemas.openxmlformats.org/drawingml/2006/main" w="10478">
            <a:solidFill>
              <a:srgbClr val="60718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DEEAA-2F26-4598-BC53-CDE97C25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0858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647"/>
          </a:solidFill>
          <a:ln xmlns:a="http://schemas.openxmlformats.org/drawingml/2006/main" w="10478">
            <a:solidFill>
              <a:srgbClr val="6071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E2204-1FC3-4814-894C-8DE2D3F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03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E1D0"/>
          </a:solidFill>
          <a:ln xmlns:a="http://schemas.openxmlformats.org/drawingml/2006/main" w="19050">
            <a:solidFill>
              <a:srgbClr val="3FE1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F7791-1AE5-4815-851A-11CF1CC7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148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647"/>
          </a:solidFill>
          <a:ln xmlns:a="http://schemas.openxmlformats.org/drawingml/2006/main" w="10478">
            <a:solidFill>
              <a:srgbClr val="60718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5DBCD-59DA-411C-898C-F436EA15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0858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647"/>
          </a:solidFill>
          <a:ln xmlns:a="http://schemas.openxmlformats.org/drawingml/2006/main" w="10478">
            <a:solidFill>
              <a:srgbClr val="60718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FCBB1-6CDD-4341-B353-AFAB702E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647"/>
          </a:solidFill>
          <a:ln xmlns:a="http://schemas.openxmlformats.org/drawingml/2006/main" w="10478">
            <a:solidFill>
              <a:srgbClr val="60718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F9B58E-BDFD-4B2D-9132-34F86FC4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148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3647"/>
          </a:solidFill>
          <a:ln xmlns:a="http://schemas.openxmlformats.org/drawingml/2006/main" w="10478">
            <a:solidFill>
              <a:srgbClr val="60718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2CE15-CA5D-4119-8C3E-861BEE3B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47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rPr>
              <a:t>副本之间留有空隙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A2FC6-482B-425C-A41C-D975AED7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430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理想低通滤波器能截回中心频谱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77A57-6D96-49FB-ABA1-CFB2399B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3335">
            <a:solidFill>
              <a:srgbClr val="FF4F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9C698-3BAE-417C-9F34-CC714CA4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95650"/>
            <a:ext cx="392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1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DEBC4-A3F2-43CF-AC92-0A259149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19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1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D82A2-1776-4CCF-9876-228DFEE1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718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9"/>
                </a:solidFill>
                <a:latin typeface="Aptos"/>
                <a:ea typeface="Aptos"/>
                <a:cs typeface="Aptos"/>
              </a:rPr>
              <a:t>fx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91F66-2FA4-416A-9DD3-AD2B28BD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09750"/>
            <a:ext cx="266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C9"/>
                </a:solidFill>
                <a:latin typeface="Aptos"/>
                <a:ea typeface="Aptos"/>
                <a:cs typeface="Aptos"/>
              </a:rPr>
              <a:t>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91700-2773-4CA9-AC86-DEAAD7BD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303D"/>
          </a:solidFill>
          <a:ln xmlns:a="http://schemas.openxmlformats.org/drawingml/2006/main" w="10478">
            <a:solidFill>
              <a:srgbClr val="FF4F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B79C77-DA6E-4ED8-8F62-3B117536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303D"/>
          </a:solidFill>
          <a:ln xmlns:a="http://schemas.openxmlformats.org/drawingml/2006/main" w="10478">
            <a:solidFill>
              <a:srgbClr val="FF4F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B36FF-00CB-4AF2-AADA-365F0EB0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303D"/>
          </a:solidFill>
          <a:ln xmlns:a="http://schemas.openxmlformats.org/drawingml/2006/main" w="10478">
            <a:solidFill>
              <a:srgbClr val="FF4F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205718-C4DB-4496-8F55-598E9376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811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303D"/>
          </a:solidFill>
          <a:ln xmlns:a="http://schemas.openxmlformats.org/drawingml/2006/main" w="10478">
            <a:solidFill>
              <a:srgbClr val="FF4F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AFBEEA-22F7-4CCC-931D-F6768D13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E1D0"/>
          </a:solidFill>
          <a:ln xmlns:a="http://schemas.openxmlformats.org/drawingml/2006/main" w="19050">
            <a:solidFill>
              <a:srgbClr val="3FE1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DBE8A7-004F-401A-B8C8-749A7A09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303D"/>
          </a:solidFill>
          <a:ln xmlns:a="http://schemas.openxmlformats.org/drawingml/2006/main" w="10478">
            <a:solidFill>
              <a:srgbClr val="FF4F5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D7C331-96F1-41BB-94CA-E220ECF9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5811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303D"/>
          </a:solidFill>
          <a:ln xmlns:a="http://schemas.openxmlformats.org/drawingml/2006/main" w="10478">
            <a:solidFill>
              <a:srgbClr val="FF4F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823965-B0AD-48BC-9DF3-EF566561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289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303D"/>
          </a:solidFill>
          <a:ln xmlns:a="http://schemas.openxmlformats.org/drawingml/2006/main" w="10478">
            <a:solidFill>
              <a:srgbClr val="FF4F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98156F-3199-484C-BD88-5BEA8DE8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303D"/>
          </a:solidFill>
          <a:ln xmlns:a="http://schemas.openxmlformats.org/drawingml/2006/main" w="10478">
            <a:solidFill>
              <a:srgbClr val="FF4F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C74171-149E-47C5-A469-4385FF37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2247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776D13-1226-4A24-95D0-9B94E040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097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95937A-5426-4D61-BD52-5EFF8B12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478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rPr>
              <a:t>副本互相重叠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549CBA-DC2F-4DF9-829B-32CB31FC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24400"/>
            <a:ext cx="4305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滤波器无法分辨真频率和折回频率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F198B6-195F-4913-B25C-1FFF3747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2600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7BD66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A26490-940D-4431-B489-177CBBF9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7690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fs,x ≥ 2 fmax,x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0D3CCC-1B77-4266-A679-91D78E81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562600"/>
            <a:ext cx="247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7BD6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07B359-3D4C-4574-B1EE-CB7348A6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76900"/>
            <a:ext cx="217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fs,y ≥ 2 fmax,y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4FC882-EBE1-491A-AC26-0D127F2D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62600"/>
            <a:ext cx="3429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1820"/>
          </a:solidFill>
          <a:ln xmlns:a="http://schemas.openxmlformats.org/drawingml/2006/main" w="11430">
            <a:solidFill>
              <a:srgbClr val="FF4F5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C1B086-0880-4D47-9419-FA9C276E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676900"/>
            <a:ext cx="3124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defRPr>
            </a:pPr>
            <a:r>
              <a:rPr sz="1650" b="1">
                <a:solidFill>
                  <a:srgbClr val="FFE1A3"/>
                </a:solidFill>
                <a:latin typeface="Cambria Math"/>
                <a:ea typeface="Cambria Math"/>
                <a:cs typeface="Cambria Math"/>
              </a:rPr>
              <a:t>fs &lt; 2 fmax  →  aliasing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427305-EEE7-43D1-BFD6-14335EDE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4365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讲给学生听：采样点不够时，不是“少了细节”这么简单，而是高频细节会伪装成低频结构。</a:t>
            </a:r>
          </a:p>
        </p:txBody>
      </p:sp>
    </p:spTree>
    <p:extLst>
      <p:ext uri="{BB962C8B-B14F-4D97-AF65-F5344CB8AC3E}">
        <p14:creationId xmlns:p14="http://schemas.microsoft.com/office/powerpoint/2010/main" val="15325457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2EAA16-A87C-437A-94F0-C3923C64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36BA0-67F7-41C7-B7F3-527EB563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2F7FF"/>
                </a:solidFill>
                <a:latin typeface="Microsoft YaHei"/>
                <a:ea typeface="Microsoft YaHei"/>
                <a:cs typeface="Microsoft YaHei"/>
              </a:rPr>
              <a:t>课堂 demo 讲解顺序：让学生亲眼看到“错误信号”是怎么来的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EFFB1-E6A5-4DD4-8EAF-99CB6A23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4850"/>
            <a:ext cx="790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9B8C9"/>
                </a:solidFill>
                <a:latin typeface="Microsoft YaHei"/>
                <a:ea typeface="Microsoft YaHei"/>
                <a:cs typeface="Microsoft YaHei"/>
              </a:rPr>
              <a:t>这页可以作为讲者提示页，也可以拆成板书流程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703e4272f4b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257300"/>
            <a:ext cx="2190750" cy="219075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830e0f50144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67050" y="1257300"/>
            <a:ext cx="2190750" cy="21907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45ff841a744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1650" y="125730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175C5-CEE0-4648-81CF-AB2D1D02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0478">
            <a:solidFill>
              <a:srgbClr val="7BD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55D34-93DC-4002-88AF-41FDB814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rPr>
              <a:t>原图局部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B3A8F-78EC-41F0-8A5E-F4301D0A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8140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0478">
            <a:solidFill>
              <a:srgbClr val="FF4F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EF6EA-F2D2-4F16-A4B9-E22F9E1B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385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rPr>
              <a:t>直接取样后放大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AAA71-2D9D-4AF0-A66E-BE98CCDD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81400"/>
            <a:ext cx="2190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0478">
            <a:solidFill>
              <a:srgbClr val="FFAE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54797-B1CB-4289-9456-CEAF1190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385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A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AE2B"/>
                </a:solidFill>
                <a:latin typeface="Microsoft YaHei"/>
                <a:ea typeface="Microsoft YaHei"/>
                <a:cs typeface="Microsoft YaHei"/>
              </a:rPr>
              <a:t>低通后再取样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7915B-599A-48B0-8CB1-F48FD464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181100"/>
            <a:ext cx="31432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01722"/>
          </a:solidFill>
          <a:ln xmlns:a="http://schemas.openxmlformats.org/drawingml/2006/main" w="11430">
            <a:solidFill>
              <a:srgbClr val="3FE1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7C7B0-6169-49AF-902F-2E31E356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FE1D0"/>
                </a:solidFill>
                <a:latin typeface="Microsoft YaHei"/>
                <a:ea typeface="Microsoft YaHei"/>
                <a:cs typeface="Microsoft YaHei"/>
              </a:rPr>
              <a:t>板书公式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989FB-88EF-42F0-A9EA-5DAF46A0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47850"/>
            <a:ext cx="2590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图像：x(x, y)</a:t>
            </a:r>
          </a:p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采样：x[m, n] = x(mΔx, nΔy)</a:t>
            </a:r>
          </a:p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条件：fs,x ≥ 2fmax,x</a:t>
            </a:r>
          </a:p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条件：fs,y ≥ 2fmax,y</a:t>
            </a:r>
          </a:p>
          <a:p xmlns:a="http://schemas.openxmlformats.org/drawingml/2006/main">
            <a:pPr algn="l">
              <a:def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预滤波：去掉无法被网格表达的高频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4EB2E-0055-41B1-91F4-F6F12092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3409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11A25"/>
          </a:solidFill>
          <a:ln xmlns:a="http://schemas.openxmlformats.org/drawingml/2006/main" w="9525">
            <a:solidFill>
              <a:srgbClr val="2E3C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B9E5A-EF95-42E3-ADF7-7FA33228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D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1F6EB-AB38-459D-9AE7-F5EB59ED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EB4C5-ACB0-45A4-B0A2-08085A33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86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BD66E"/>
                </a:solidFill>
                <a:latin typeface="Microsoft YaHei"/>
                <a:ea typeface="Microsoft YaHei"/>
                <a:cs typeface="Microsoft YaHei"/>
              </a:rPr>
              <a:t>先问观察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17E05-BDB4-4FBA-BECB-6F5FD7A6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0150"/>
            <a:ext cx="2305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哪一个结果只是“模糊”，哪一个产生了新的图案？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0DDC11-EE71-485C-ACCC-BEF1030E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3409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11A25"/>
          </a:solidFill>
          <a:ln xmlns:a="http://schemas.openxmlformats.org/drawingml/2006/main" w="9525">
            <a:solidFill>
              <a:srgbClr val="2E3C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74668-8D89-4602-B4B1-9A750D52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86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6CE00-1DA9-41CE-8161-D09D9DC9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529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23ED5-6584-454C-9BD3-BDE6FF33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86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4F5F"/>
                </a:solidFill>
                <a:latin typeface="Microsoft YaHei"/>
                <a:ea typeface="Microsoft YaHei"/>
                <a:cs typeface="Microsoft YaHei"/>
              </a:rPr>
              <a:t>再讲原因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66E34-D474-414A-BF9F-361813E7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10150"/>
            <a:ext cx="2305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高频副本折回到低频，低通滤波器无法再把真假分开。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CC493C-E89F-4469-A7A9-B7C0F659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34099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11A25"/>
          </a:solidFill>
          <a:ln xmlns:a="http://schemas.openxmlformats.org/drawingml/2006/main" w="9525">
            <a:solidFill>
              <a:srgbClr val="2E3C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F28EAB-C636-452C-A505-186013D4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86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E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8B288-595F-40F3-9229-E856648B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52975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41C010-B5A3-4CB6-9618-FDD8802E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AE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AE2B"/>
                </a:solidFill>
                <a:latin typeface="Microsoft YaHei"/>
                <a:ea typeface="Microsoft YaHei"/>
                <a:cs typeface="Microsoft YaHei"/>
              </a:rPr>
              <a:t>最后落点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F47BC4-C68D-4AD2-B436-67951691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10150"/>
            <a:ext cx="2305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8E5F2"/>
                </a:solidFill>
                <a:latin typeface="Microsoft YaHei"/>
                <a:ea typeface="Microsoft YaHei"/>
                <a:cs typeface="Microsoft YaHei"/>
              </a:rPr>
              <a:t>采样定理的意义：给出不混叠的最低采样率。</a:t>
            </a:r>
          </a:p>
        </p:txBody>
      </p:sp>
    </p:spTree>
    <p:extLst>
      <p:ext uri="{BB962C8B-B14F-4D97-AF65-F5344CB8AC3E}">
        <p14:creationId xmlns:p14="http://schemas.microsoft.com/office/powerpoint/2010/main" val="575123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2026-05-31T07:29:00.4940000Z</dcterms:created>
  <dcterms:modified xsi:type="dcterms:W3CDTF">2026-05-31T07:29:00.4940000Z</dcterms:modified>
</coreProperties>
</file>